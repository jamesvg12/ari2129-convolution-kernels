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133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en-M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7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2129 · Computer Vision for AI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Kernels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2377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Mathematical Engine of Modern Computer Vision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 flipV="1">
            <a:off x="525725" y="2926080"/>
            <a:ext cx="5562841" cy="76572"/>
          </a:xfrm>
          <a:prstGeom prst="rect">
            <a:avLst/>
          </a:prstGeom>
          <a:solidFill>
            <a:srgbClr val="007F85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6" name="Shape 13"/>
          <p:cNvSpPr/>
          <p:nvPr/>
        </p:nvSpPr>
        <p:spPr>
          <a:xfrm>
            <a:off x="457200" y="4372020"/>
            <a:ext cx="7683190" cy="457200"/>
          </a:xfrm>
          <a:prstGeom prst="roundRect">
            <a:avLst>
              <a:gd name="adj" fmla="val 16000"/>
            </a:avLst>
          </a:prstGeom>
          <a:solidFill>
            <a:srgbClr val="122040"/>
          </a:solidFill>
          <a:ln/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James Vella Gera, Gregory Vella, Nathan Tanti, Dusan </a:t>
            </a:r>
            <a:r>
              <a:rPr lang="en-US" dirty="0" err="1">
                <a:solidFill>
                  <a:schemeClr val="bg1"/>
                </a:solidFill>
              </a:rPr>
              <a:t>Dinic</a:t>
            </a:r>
            <a:r>
              <a:rPr lang="en-US" dirty="0">
                <a:solidFill>
                  <a:schemeClr val="bg1"/>
                </a:solidFill>
              </a:rPr>
              <a:t>, Dimitrios Paschalidis</a:t>
            </a:r>
            <a:endParaRPr lang="en-MT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Convolution Kernel?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09728" cy="3840480"/>
          </a:xfrm>
          <a:prstGeom prst="rect">
            <a:avLst/>
          </a:prstGeom>
          <a:solidFill>
            <a:srgbClr val="E84545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sees an image as a massive grid of numbers.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749808" cy="438912"/>
          </a:xfrm>
          <a:prstGeom prst="rect">
            <a:avLst/>
          </a:prstGeom>
          <a:solidFill>
            <a:srgbClr val="D8EEF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17320" y="2286000"/>
            <a:ext cx="749808" cy="438912"/>
          </a:xfrm>
          <a:prstGeom prst="rect">
            <a:avLst/>
          </a:prstGeom>
          <a:solidFill>
            <a:srgbClr val="D8EEF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1" name="Text 9"/>
          <p:cNvSpPr/>
          <p:nvPr/>
        </p:nvSpPr>
        <p:spPr>
          <a:xfrm>
            <a:off x="1417320" y="2286000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40280" y="2286000"/>
            <a:ext cx="749808" cy="438912"/>
          </a:xfrm>
          <a:prstGeom prst="rect">
            <a:avLst/>
          </a:prstGeom>
          <a:solidFill>
            <a:srgbClr val="B0D4E8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3" name="Text 11"/>
          <p:cNvSpPr/>
          <p:nvPr/>
        </p:nvSpPr>
        <p:spPr>
          <a:xfrm>
            <a:off x="2240280" y="2286000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63240" y="2286000"/>
            <a:ext cx="749808" cy="438912"/>
          </a:xfrm>
          <a:prstGeom prst="rect">
            <a:avLst/>
          </a:prstGeom>
          <a:solidFill>
            <a:srgbClr val="D8EEF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5" name="Text 13"/>
          <p:cNvSpPr/>
          <p:nvPr/>
        </p:nvSpPr>
        <p:spPr>
          <a:xfrm>
            <a:off x="3063240" y="2286000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2788920"/>
            <a:ext cx="749808" cy="438912"/>
          </a:xfrm>
          <a:prstGeom prst="rect">
            <a:avLst/>
          </a:prstGeom>
          <a:solidFill>
            <a:srgbClr val="B0D4E8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7" name="Text 15"/>
          <p:cNvSpPr/>
          <p:nvPr/>
        </p:nvSpPr>
        <p:spPr>
          <a:xfrm>
            <a:off x="594360" y="2788920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17320" y="2788920"/>
            <a:ext cx="749808" cy="438912"/>
          </a:xfrm>
          <a:prstGeom prst="rect">
            <a:avLst/>
          </a:prstGeom>
          <a:solidFill>
            <a:srgbClr val="D8EEF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9" name="Text 17"/>
          <p:cNvSpPr/>
          <p:nvPr/>
        </p:nvSpPr>
        <p:spPr>
          <a:xfrm>
            <a:off x="1417320" y="2788920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40280" y="2788920"/>
            <a:ext cx="749808" cy="438912"/>
          </a:xfrm>
          <a:prstGeom prst="rect">
            <a:avLst/>
          </a:prstGeom>
          <a:solidFill>
            <a:srgbClr val="D8EEF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1" name="Text 19"/>
          <p:cNvSpPr/>
          <p:nvPr/>
        </p:nvSpPr>
        <p:spPr>
          <a:xfrm>
            <a:off x="2240280" y="2788920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63240" y="2788920"/>
            <a:ext cx="749808" cy="438912"/>
          </a:xfrm>
          <a:prstGeom prst="rect">
            <a:avLst/>
          </a:prstGeom>
          <a:solidFill>
            <a:srgbClr val="B0D4E8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3" name="Text 21"/>
          <p:cNvSpPr/>
          <p:nvPr/>
        </p:nvSpPr>
        <p:spPr>
          <a:xfrm>
            <a:off x="3063240" y="2788920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291840"/>
            <a:ext cx="749808" cy="438912"/>
          </a:xfrm>
          <a:prstGeom prst="rect">
            <a:avLst/>
          </a:prstGeom>
          <a:solidFill>
            <a:srgbClr val="D8EEF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5" name="Text 23"/>
          <p:cNvSpPr/>
          <p:nvPr/>
        </p:nvSpPr>
        <p:spPr>
          <a:xfrm>
            <a:off x="594360" y="3291840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417320" y="3291840"/>
            <a:ext cx="749808" cy="438912"/>
          </a:xfrm>
          <a:prstGeom prst="rect">
            <a:avLst/>
          </a:prstGeom>
          <a:solidFill>
            <a:srgbClr val="D8EEF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7" name="Text 25"/>
          <p:cNvSpPr/>
          <p:nvPr/>
        </p:nvSpPr>
        <p:spPr>
          <a:xfrm>
            <a:off x="1417320" y="3291840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40280" y="3291840"/>
            <a:ext cx="749808" cy="438912"/>
          </a:xfrm>
          <a:prstGeom prst="rect">
            <a:avLst/>
          </a:prstGeom>
          <a:solidFill>
            <a:srgbClr val="D8EEF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9" name="Text 27"/>
          <p:cNvSpPr/>
          <p:nvPr/>
        </p:nvSpPr>
        <p:spPr>
          <a:xfrm>
            <a:off x="2240280" y="3291840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063240" y="3291840"/>
            <a:ext cx="749808" cy="438912"/>
          </a:xfrm>
          <a:prstGeom prst="rect">
            <a:avLst/>
          </a:prstGeom>
          <a:solidFill>
            <a:srgbClr val="B0D4E8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1" name="Text 29"/>
          <p:cNvSpPr/>
          <p:nvPr/>
        </p:nvSpPr>
        <p:spPr>
          <a:xfrm>
            <a:off x="3063240" y="3291840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" y="3794760"/>
            <a:ext cx="749808" cy="438912"/>
          </a:xfrm>
          <a:prstGeom prst="rect">
            <a:avLst/>
          </a:prstGeom>
          <a:solidFill>
            <a:srgbClr val="D8EEF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3" name="Text 31"/>
          <p:cNvSpPr/>
          <p:nvPr/>
        </p:nvSpPr>
        <p:spPr>
          <a:xfrm>
            <a:off x="594360" y="3794760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417320" y="3794760"/>
            <a:ext cx="749808" cy="438912"/>
          </a:xfrm>
          <a:prstGeom prst="rect">
            <a:avLst/>
          </a:prstGeom>
          <a:solidFill>
            <a:srgbClr val="B0D4E8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5" name="Text 33"/>
          <p:cNvSpPr/>
          <p:nvPr/>
        </p:nvSpPr>
        <p:spPr>
          <a:xfrm>
            <a:off x="1417320" y="3794760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40280" y="3794760"/>
            <a:ext cx="749808" cy="438912"/>
          </a:xfrm>
          <a:prstGeom prst="rect">
            <a:avLst/>
          </a:prstGeom>
          <a:solidFill>
            <a:srgbClr val="B0D4E8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7" name="Text 35"/>
          <p:cNvSpPr/>
          <p:nvPr/>
        </p:nvSpPr>
        <p:spPr>
          <a:xfrm>
            <a:off x="2240280" y="3794760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63240" y="3794760"/>
            <a:ext cx="749808" cy="438912"/>
          </a:xfrm>
          <a:prstGeom prst="rect">
            <a:avLst/>
          </a:prstGeom>
          <a:solidFill>
            <a:srgbClr val="D8EEF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9" name="Text 37"/>
          <p:cNvSpPr/>
          <p:nvPr/>
        </p:nvSpPr>
        <p:spPr>
          <a:xfrm>
            <a:off x="3063240" y="3794760"/>
            <a:ext cx="749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77724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 dirty="0"/>
          </a:p>
        </p:txBody>
      </p:sp>
      <p:sp>
        <p:nvSpPr>
          <p:cNvPr id="41" name="Shape 39"/>
          <p:cNvSpPr/>
          <p:nvPr/>
        </p:nvSpPr>
        <p:spPr>
          <a:xfrm>
            <a:off x="4846320" y="777240"/>
            <a:ext cx="109728" cy="384048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42" name="Text 40"/>
          <p:cNvSpPr/>
          <p:nvPr/>
        </p:nvSpPr>
        <p:spPr>
          <a:xfrm>
            <a:off x="5074920" y="868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Flashlight Solution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074920" y="1425199"/>
            <a:ext cx="3566160" cy="11183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= </a:t>
            </a:r>
            <a:r>
              <a:rPr lang="en-US" sz="120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flashlight
</a:t>
            </a: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= </a:t>
            </a:r>
            <a:r>
              <a:rPr lang="en-US" sz="120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it moves
</a:t>
            </a: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 = </a:t>
            </a:r>
            <a:r>
              <a:rPr lang="en-US" sz="120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of what you found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00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Sharing: </a:t>
            </a:r>
            <a:r>
              <a:rPr lang="en-US" sz="120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filter, entire image → one 'flashlight' learns one pattern everywhere.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74920" y="26948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Kernel sliding over input:</a:t>
            </a:r>
            <a:endParaRPr lang="en-US" sz="1000" dirty="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A491ABA-54F4-2AEA-B4F1-7A943146D9AC}"/>
              </a:ext>
            </a:extLst>
          </p:cNvPr>
          <p:cNvGrpSpPr/>
          <p:nvPr/>
        </p:nvGrpSpPr>
        <p:grpSpPr>
          <a:xfrm>
            <a:off x="5166360" y="2992913"/>
            <a:ext cx="1911096" cy="1326775"/>
            <a:chOff x="5166360" y="3226121"/>
            <a:chExt cx="1911096" cy="1326775"/>
          </a:xfrm>
        </p:grpSpPr>
        <p:sp>
          <p:nvSpPr>
            <p:cNvPr id="45" name="Shape 43"/>
            <p:cNvSpPr/>
            <p:nvPr/>
          </p:nvSpPr>
          <p:spPr>
            <a:xfrm>
              <a:off x="5166360" y="3703320"/>
              <a:ext cx="594360" cy="384048"/>
            </a:xfrm>
            <a:prstGeom prst="rect">
              <a:avLst/>
            </a:prstGeom>
            <a:solidFill>
              <a:srgbClr val="D0EAF0"/>
            </a:solidFill>
            <a:ln/>
          </p:spPr>
          <p:txBody>
            <a:bodyPr anchor="ctr"/>
            <a:lstStyle/>
            <a:p>
              <a:pPr algn="ctr"/>
              <a:r>
                <a:rPr lang="en-US" sz="1100" dirty="0">
                  <a:solidFill>
                    <a:srgbClr val="0A1628"/>
                  </a:solidFill>
                  <a:latin typeface="Consolas" pitchFamily="34" charset="0"/>
                </a:rPr>
                <a:t>0</a:t>
              </a:r>
              <a:endParaRPr lang="en-MT" sz="1100" dirty="0">
                <a:solidFill>
                  <a:srgbClr val="0A1628"/>
                </a:solidFill>
                <a:latin typeface="Consolas" pitchFamily="34" charset="0"/>
              </a:endParaRPr>
            </a:p>
          </p:txBody>
        </p:sp>
        <p:sp>
          <p:nvSpPr>
            <p:cNvPr id="47" name="Shape 45"/>
            <p:cNvSpPr/>
            <p:nvPr/>
          </p:nvSpPr>
          <p:spPr>
            <a:xfrm>
              <a:off x="5824728" y="3227535"/>
              <a:ext cx="594360" cy="384048"/>
            </a:xfrm>
            <a:prstGeom prst="rect">
              <a:avLst/>
            </a:prstGeom>
            <a:solidFill>
              <a:srgbClr val="D0EAF0"/>
            </a:solidFill>
            <a:ln/>
          </p:spPr>
          <p:txBody>
            <a:bodyPr anchor="ctr"/>
            <a:lstStyle/>
            <a:p>
              <a:pPr algn="ctr"/>
              <a:r>
                <a:rPr lang="en-US" sz="1100" dirty="0">
                  <a:solidFill>
                    <a:srgbClr val="0A1628"/>
                  </a:solidFill>
                  <a:latin typeface="Consolas" pitchFamily="34" charset="0"/>
                </a:rPr>
                <a:t>0</a:t>
              </a:r>
              <a:endParaRPr lang="en-MT" sz="1100" dirty="0">
                <a:solidFill>
                  <a:srgbClr val="0A1628"/>
                </a:solidFill>
                <a:latin typeface="Consolas" pitchFamily="34" charset="0"/>
              </a:endParaRPr>
            </a:p>
          </p:txBody>
        </p:sp>
        <p:sp>
          <p:nvSpPr>
            <p:cNvPr id="49" name="Shape 47"/>
            <p:cNvSpPr/>
            <p:nvPr/>
          </p:nvSpPr>
          <p:spPr>
            <a:xfrm>
              <a:off x="6483096" y="3703320"/>
              <a:ext cx="594360" cy="384048"/>
            </a:xfrm>
            <a:prstGeom prst="rect">
              <a:avLst/>
            </a:prstGeom>
            <a:solidFill>
              <a:srgbClr val="D0EAF0"/>
            </a:solidFill>
            <a:ln/>
          </p:spPr>
          <p:txBody>
            <a:bodyPr anchor="ctr"/>
            <a:lstStyle/>
            <a:p>
              <a:pPr algn="ctr"/>
              <a:r>
                <a:rPr lang="en-US" sz="1100" dirty="0">
                  <a:solidFill>
                    <a:srgbClr val="0A1628"/>
                  </a:solidFill>
                  <a:latin typeface="Consolas" pitchFamily="34" charset="0"/>
                </a:rPr>
                <a:t>0</a:t>
              </a:r>
              <a:endParaRPr lang="en-MT" sz="1100" dirty="0">
                <a:solidFill>
                  <a:srgbClr val="0A1628"/>
                </a:solidFill>
                <a:latin typeface="Consolas" pitchFamily="34" charset="0"/>
              </a:endParaRPr>
            </a:p>
          </p:txBody>
        </p:sp>
        <p:sp>
          <p:nvSpPr>
            <p:cNvPr id="51" name="Shape 49"/>
            <p:cNvSpPr/>
            <p:nvPr/>
          </p:nvSpPr>
          <p:spPr>
            <a:xfrm>
              <a:off x="5166360" y="3226121"/>
              <a:ext cx="594360" cy="384048"/>
            </a:xfrm>
            <a:prstGeom prst="rect">
              <a:avLst/>
            </a:prstGeom>
            <a:solidFill>
              <a:srgbClr val="D0EAF0"/>
            </a:solidFill>
            <a:ln/>
          </p:spPr>
          <p:txBody>
            <a:bodyPr anchor="ctr"/>
            <a:lstStyle/>
            <a:p>
              <a:pPr algn="ctr"/>
              <a:r>
                <a:rPr lang="en-US" sz="1100" dirty="0">
                  <a:solidFill>
                    <a:srgbClr val="0A1628"/>
                  </a:solidFill>
                  <a:latin typeface="Consolas" pitchFamily="34" charset="0"/>
                </a:rPr>
                <a:t>0</a:t>
              </a:r>
              <a:endParaRPr lang="en-MT" sz="1100" dirty="0">
                <a:solidFill>
                  <a:srgbClr val="0A1628"/>
                </a:solidFill>
                <a:latin typeface="Consolas" pitchFamily="34" charset="0"/>
              </a:endParaRPr>
            </a:p>
          </p:txBody>
        </p:sp>
        <p:sp>
          <p:nvSpPr>
            <p:cNvPr id="53" name="Shape 51"/>
            <p:cNvSpPr/>
            <p:nvPr/>
          </p:nvSpPr>
          <p:spPr>
            <a:xfrm>
              <a:off x="5824728" y="3701907"/>
              <a:ext cx="594360" cy="384048"/>
            </a:xfrm>
            <a:prstGeom prst="rect">
              <a:avLst/>
            </a:prstGeom>
            <a:solidFill>
              <a:srgbClr val="00C2CB"/>
            </a:solidFill>
            <a:ln/>
          </p:spPr>
          <p:txBody>
            <a:bodyPr anchor="ctr"/>
            <a:lstStyle/>
            <a:p>
              <a:pPr algn="ctr"/>
              <a:r>
                <a:rPr lang="en-US" sz="1100" dirty="0">
                  <a:solidFill>
                    <a:srgbClr val="0A1628"/>
                  </a:solidFill>
                  <a:latin typeface="Consolas" pitchFamily="34" charset="0"/>
                </a:rPr>
                <a:t>1</a:t>
              </a:r>
              <a:endParaRPr lang="en-MT" sz="1100" dirty="0">
                <a:solidFill>
                  <a:srgbClr val="0A1628"/>
                </a:solidFill>
                <a:latin typeface="Consolas" pitchFamily="34" charset="0"/>
              </a:endParaRPr>
            </a:p>
          </p:txBody>
        </p:sp>
        <p:sp>
          <p:nvSpPr>
            <p:cNvPr id="55" name="Shape 53"/>
            <p:cNvSpPr/>
            <p:nvPr/>
          </p:nvSpPr>
          <p:spPr>
            <a:xfrm>
              <a:off x="6483096" y="3226125"/>
              <a:ext cx="594360" cy="384048"/>
            </a:xfrm>
            <a:prstGeom prst="rect">
              <a:avLst/>
            </a:prstGeom>
            <a:solidFill>
              <a:srgbClr val="D0EAF0"/>
            </a:solidFill>
            <a:ln/>
          </p:spPr>
          <p:txBody>
            <a:bodyPr anchor="ctr"/>
            <a:lstStyle/>
            <a:p>
              <a:pPr algn="ctr"/>
              <a:r>
                <a:rPr lang="en-US" sz="1100" dirty="0">
                  <a:solidFill>
                    <a:srgbClr val="0A1628"/>
                  </a:solidFill>
                  <a:latin typeface="Consolas" pitchFamily="34" charset="0"/>
                </a:rPr>
                <a:t>0</a:t>
              </a:r>
              <a:endParaRPr lang="en-MT" sz="1100" dirty="0">
                <a:solidFill>
                  <a:srgbClr val="0A1628"/>
                </a:solidFill>
                <a:latin typeface="Consolas" pitchFamily="34" charset="0"/>
              </a:endParaRPr>
            </a:p>
          </p:txBody>
        </p:sp>
        <p:sp>
          <p:nvSpPr>
            <p:cNvPr id="57" name="Shape 55"/>
            <p:cNvSpPr/>
            <p:nvPr/>
          </p:nvSpPr>
          <p:spPr>
            <a:xfrm>
              <a:off x="5166360" y="4168847"/>
              <a:ext cx="594360" cy="384048"/>
            </a:xfrm>
            <a:prstGeom prst="rect">
              <a:avLst/>
            </a:prstGeom>
            <a:solidFill>
              <a:srgbClr val="D0EAF0"/>
            </a:solidFill>
            <a:ln/>
          </p:spPr>
          <p:txBody>
            <a:bodyPr anchor="ctr"/>
            <a:lstStyle/>
            <a:p>
              <a:pPr algn="ctr"/>
              <a:r>
                <a:rPr lang="en-US" sz="1100" dirty="0">
                  <a:solidFill>
                    <a:srgbClr val="0A1628"/>
                  </a:solidFill>
                  <a:latin typeface="Consolas" pitchFamily="34" charset="0"/>
                </a:rPr>
                <a:t>0</a:t>
              </a:r>
              <a:endParaRPr lang="en-MT" sz="1100" dirty="0">
                <a:solidFill>
                  <a:srgbClr val="0A1628"/>
                </a:solidFill>
                <a:latin typeface="Consolas" pitchFamily="34" charset="0"/>
              </a:endParaRPr>
            </a:p>
          </p:txBody>
        </p:sp>
        <p:sp>
          <p:nvSpPr>
            <p:cNvPr id="59" name="Shape 57"/>
            <p:cNvSpPr/>
            <p:nvPr/>
          </p:nvSpPr>
          <p:spPr>
            <a:xfrm>
              <a:off x="5824728" y="4168848"/>
              <a:ext cx="594360" cy="384048"/>
            </a:xfrm>
            <a:prstGeom prst="rect">
              <a:avLst/>
            </a:prstGeom>
            <a:solidFill>
              <a:srgbClr val="D0EAF0"/>
            </a:solidFill>
            <a:ln/>
          </p:spPr>
          <p:txBody>
            <a:bodyPr anchor="ctr"/>
            <a:lstStyle/>
            <a:p>
              <a:pPr algn="ctr"/>
              <a:r>
                <a:rPr lang="en-US" sz="1100" dirty="0">
                  <a:solidFill>
                    <a:srgbClr val="0A1628"/>
                  </a:solidFill>
                  <a:latin typeface="Consolas" pitchFamily="34" charset="0"/>
                </a:rPr>
                <a:t>0</a:t>
              </a:r>
              <a:endParaRPr lang="en-MT" sz="1100" dirty="0">
                <a:solidFill>
                  <a:srgbClr val="0A1628"/>
                </a:solidFill>
                <a:latin typeface="Consolas" pitchFamily="34" charset="0"/>
              </a:endParaRPr>
            </a:p>
          </p:txBody>
        </p:sp>
        <p:sp>
          <p:nvSpPr>
            <p:cNvPr id="61" name="Shape 59"/>
            <p:cNvSpPr/>
            <p:nvPr/>
          </p:nvSpPr>
          <p:spPr>
            <a:xfrm>
              <a:off x="6483096" y="4168848"/>
              <a:ext cx="594360" cy="384048"/>
            </a:xfrm>
            <a:prstGeom prst="rect">
              <a:avLst/>
            </a:prstGeom>
            <a:solidFill>
              <a:srgbClr val="D0EAF0"/>
            </a:solidFill>
            <a:ln/>
          </p:spPr>
          <p:txBody>
            <a:bodyPr anchor="ctr"/>
            <a:lstStyle/>
            <a:p>
              <a:pPr algn="ctr"/>
              <a:r>
                <a:rPr lang="en-US" sz="1100" dirty="0">
                  <a:solidFill>
                    <a:srgbClr val="0A1628"/>
                  </a:solidFill>
                  <a:latin typeface="Consolas" pitchFamily="34" charset="0"/>
                </a:rPr>
                <a:t>0</a:t>
              </a:r>
              <a:endParaRPr lang="en-MT" sz="1100" dirty="0">
                <a:solidFill>
                  <a:srgbClr val="0A1628"/>
                </a:solidFill>
                <a:latin typeface="Consolas" pitchFamily="34" charset="0"/>
              </a:endParaRPr>
            </a:p>
          </p:txBody>
        </p:sp>
      </p:grpSp>
      <p:sp>
        <p:nvSpPr>
          <p:cNvPr id="63" name="Text 61"/>
          <p:cNvSpPr/>
          <p:nvPr/>
        </p:nvSpPr>
        <p:spPr>
          <a:xfrm>
            <a:off x="7216326" y="3478435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Filter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Dimension Equation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45719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4" name="Shape 2"/>
          <p:cNvSpPr/>
          <p:nvPr/>
        </p:nvSpPr>
        <p:spPr>
          <a:xfrm>
            <a:off x="1252728" y="1316661"/>
            <a:ext cx="6400800" cy="548491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r>
              <a:rPr lang="en-US" sz="24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 =  ⌊ (I  –  K  +  2P) / S ⌋  +  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2240280"/>
            <a:ext cx="2057400" cy="146304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7" name="Shape 5"/>
          <p:cNvSpPr/>
          <p:nvPr/>
        </p:nvSpPr>
        <p:spPr>
          <a:xfrm>
            <a:off x="274320" y="2240280"/>
            <a:ext cx="2057400" cy="4114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8" name="Text 6"/>
          <p:cNvSpPr/>
          <p:nvPr/>
        </p:nvSpPr>
        <p:spPr>
          <a:xfrm>
            <a:off x="274320" y="2240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6974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or Height of input feature map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41448" y="2240280"/>
            <a:ext cx="2057400" cy="146304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12" name="Shape 10"/>
          <p:cNvSpPr/>
          <p:nvPr/>
        </p:nvSpPr>
        <p:spPr>
          <a:xfrm>
            <a:off x="2441448" y="2240280"/>
            <a:ext cx="2057400" cy="4114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3" name="Text 11"/>
          <p:cNvSpPr/>
          <p:nvPr/>
        </p:nvSpPr>
        <p:spPr>
          <a:xfrm>
            <a:off x="2441448" y="2240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44368" y="2240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Size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32888" y="26974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dirty="0">
                <a:solidFill>
                  <a:srgbClr val="8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and height of the sliding filter. Odd numbers are normally used to have a </a:t>
            </a:r>
            <a:r>
              <a:rPr lang="en-US" sz="1050" dirty="0" err="1">
                <a:solidFill>
                  <a:srgbClr val="8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r>
              <a:rPr lang="en-US" sz="1050" dirty="0">
                <a:solidFill>
                  <a:srgbClr val="8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pixel.</a:t>
            </a:r>
          </a:p>
        </p:txBody>
      </p:sp>
      <p:sp>
        <p:nvSpPr>
          <p:cNvPr id="16" name="Shape 14"/>
          <p:cNvSpPr/>
          <p:nvPr/>
        </p:nvSpPr>
        <p:spPr>
          <a:xfrm>
            <a:off x="4608576" y="2240280"/>
            <a:ext cx="2057400" cy="146304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17" name="Shape 15"/>
          <p:cNvSpPr/>
          <p:nvPr/>
        </p:nvSpPr>
        <p:spPr>
          <a:xfrm>
            <a:off x="4608576" y="2240280"/>
            <a:ext cx="2057400" cy="4114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8" name="Text 16"/>
          <p:cNvSpPr/>
          <p:nvPr/>
        </p:nvSpPr>
        <p:spPr>
          <a:xfrm>
            <a:off x="4608576" y="2240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11496" y="2240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0016" y="26974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dirty="0">
                <a:solidFill>
                  <a:srgbClr val="8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 added around the input border before convolution</a:t>
            </a:r>
          </a:p>
        </p:txBody>
      </p:sp>
      <p:sp>
        <p:nvSpPr>
          <p:cNvPr id="21" name="Shape 19"/>
          <p:cNvSpPr/>
          <p:nvPr/>
        </p:nvSpPr>
        <p:spPr>
          <a:xfrm>
            <a:off x="6775704" y="2240280"/>
            <a:ext cx="2057400" cy="146304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22" name="Shape 20"/>
          <p:cNvSpPr/>
          <p:nvPr/>
        </p:nvSpPr>
        <p:spPr>
          <a:xfrm>
            <a:off x="6775704" y="2240280"/>
            <a:ext cx="2057400" cy="41148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3" name="Text 21"/>
          <p:cNvSpPr/>
          <p:nvPr/>
        </p:nvSpPr>
        <p:spPr>
          <a:xfrm>
            <a:off x="6775704" y="2240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278624" y="2240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67144" y="26974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dirty="0">
                <a:solidFill>
                  <a:srgbClr val="8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how many pixels the kernel jumps between positions</a:t>
            </a:r>
          </a:p>
        </p:txBody>
      </p:sp>
      <p:sp>
        <p:nvSpPr>
          <p:cNvPr id="26" name="Shape 24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07102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27" name="Text 25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Input=4, Kernel=3, Padding=0, Stride=1 	 →  O = (4–3+0)/1 + 1 	= 2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Input=224, K=3, P=1, S=1 		 →  O = (224-3+2)/1 + 1 	= 224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Calculation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(4×4)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713232" cy="621792"/>
          </a:xfrm>
          <a:prstGeom prst="rect">
            <a:avLst/>
          </a:prstGeom>
          <a:solidFill>
            <a:srgbClr val="BDE3EE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51560" y="1143000"/>
            <a:ext cx="713232" cy="621792"/>
          </a:xfrm>
          <a:prstGeom prst="rect">
            <a:avLst/>
          </a:prstGeom>
          <a:solidFill>
            <a:srgbClr val="BDE3EE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8" name="Text 6"/>
          <p:cNvSpPr/>
          <p:nvPr/>
        </p:nvSpPr>
        <p:spPr>
          <a:xfrm>
            <a:off x="1051560" y="11430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828800" y="1143000"/>
            <a:ext cx="713232" cy="621792"/>
          </a:xfrm>
          <a:prstGeom prst="rect">
            <a:avLst/>
          </a:prstGeom>
          <a:solidFill>
            <a:srgbClr val="BDE3EE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0" name="Text 8"/>
          <p:cNvSpPr/>
          <p:nvPr/>
        </p:nvSpPr>
        <p:spPr>
          <a:xfrm>
            <a:off x="1828800" y="11430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06040" y="1143000"/>
            <a:ext cx="713232" cy="621792"/>
          </a:xfrm>
          <a:prstGeom prst="rect">
            <a:avLst/>
          </a:prstGeom>
          <a:solidFill>
            <a:srgbClr val="D8EEF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2" name="Text 10"/>
          <p:cNvSpPr/>
          <p:nvPr/>
        </p:nvSpPr>
        <p:spPr>
          <a:xfrm>
            <a:off x="2606040" y="11430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4320" y="1828800"/>
            <a:ext cx="713232" cy="621792"/>
          </a:xfrm>
          <a:prstGeom prst="rect">
            <a:avLst/>
          </a:prstGeom>
          <a:solidFill>
            <a:srgbClr val="BDE3EE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4" name="Text 12"/>
          <p:cNvSpPr/>
          <p:nvPr/>
        </p:nvSpPr>
        <p:spPr>
          <a:xfrm>
            <a:off x="274320" y="18288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51560" y="1828800"/>
            <a:ext cx="713232" cy="621792"/>
          </a:xfrm>
          <a:prstGeom prst="rect">
            <a:avLst/>
          </a:prstGeom>
          <a:solidFill>
            <a:srgbClr val="BDE3EE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6" name="Text 14"/>
          <p:cNvSpPr/>
          <p:nvPr/>
        </p:nvSpPr>
        <p:spPr>
          <a:xfrm>
            <a:off x="1051560" y="18288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828800" y="1828800"/>
            <a:ext cx="713232" cy="621792"/>
          </a:xfrm>
          <a:prstGeom prst="rect">
            <a:avLst/>
          </a:prstGeom>
          <a:solidFill>
            <a:srgbClr val="BDE3EE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8" name="Text 16"/>
          <p:cNvSpPr/>
          <p:nvPr/>
        </p:nvSpPr>
        <p:spPr>
          <a:xfrm>
            <a:off x="1828800" y="18288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606040" y="1828800"/>
            <a:ext cx="713232" cy="621792"/>
          </a:xfrm>
          <a:prstGeom prst="rect">
            <a:avLst/>
          </a:prstGeom>
          <a:solidFill>
            <a:srgbClr val="D8EEF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0" name="Text 18"/>
          <p:cNvSpPr/>
          <p:nvPr/>
        </p:nvSpPr>
        <p:spPr>
          <a:xfrm>
            <a:off x="2606040" y="18288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74320" y="2514600"/>
            <a:ext cx="713232" cy="621792"/>
          </a:xfrm>
          <a:prstGeom prst="rect">
            <a:avLst/>
          </a:prstGeom>
          <a:solidFill>
            <a:srgbClr val="BDE3EE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2" name="Text 20"/>
          <p:cNvSpPr/>
          <p:nvPr/>
        </p:nvSpPr>
        <p:spPr>
          <a:xfrm>
            <a:off x="274320" y="25146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51560" y="2514600"/>
            <a:ext cx="713232" cy="621792"/>
          </a:xfrm>
          <a:prstGeom prst="rect">
            <a:avLst/>
          </a:prstGeom>
          <a:solidFill>
            <a:srgbClr val="BDE3EE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4" name="Text 22"/>
          <p:cNvSpPr/>
          <p:nvPr/>
        </p:nvSpPr>
        <p:spPr>
          <a:xfrm>
            <a:off x="1051560" y="25146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828800" y="2514600"/>
            <a:ext cx="713232" cy="621792"/>
          </a:xfrm>
          <a:prstGeom prst="rect">
            <a:avLst/>
          </a:prstGeom>
          <a:solidFill>
            <a:srgbClr val="BDE3EE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6" name="Text 24"/>
          <p:cNvSpPr/>
          <p:nvPr/>
        </p:nvSpPr>
        <p:spPr>
          <a:xfrm>
            <a:off x="1828800" y="25146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606040" y="2514600"/>
            <a:ext cx="713232" cy="621792"/>
          </a:xfrm>
          <a:prstGeom prst="rect">
            <a:avLst/>
          </a:prstGeom>
          <a:solidFill>
            <a:srgbClr val="D8EEF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8" name="Text 26"/>
          <p:cNvSpPr/>
          <p:nvPr/>
        </p:nvSpPr>
        <p:spPr>
          <a:xfrm>
            <a:off x="2606040" y="25146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74320" y="3200400"/>
            <a:ext cx="713232" cy="621792"/>
          </a:xfrm>
          <a:prstGeom prst="rect">
            <a:avLst/>
          </a:prstGeom>
          <a:solidFill>
            <a:srgbClr val="D8EEF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0" name="Text 28"/>
          <p:cNvSpPr/>
          <p:nvPr/>
        </p:nvSpPr>
        <p:spPr>
          <a:xfrm>
            <a:off x="274320" y="32004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51560" y="3200400"/>
            <a:ext cx="713232" cy="621792"/>
          </a:xfrm>
          <a:prstGeom prst="rect">
            <a:avLst/>
          </a:prstGeom>
          <a:solidFill>
            <a:srgbClr val="D8EEF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2" name="Text 30"/>
          <p:cNvSpPr/>
          <p:nvPr/>
        </p:nvSpPr>
        <p:spPr>
          <a:xfrm>
            <a:off x="1051560" y="32004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828800" y="3200400"/>
            <a:ext cx="713232" cy="621792"/>
          </a:xfrm>
          <a:prstGeom prst="rect">
            <a:avLst/>
          </a:prstGeom>
          <a:solidFill>
            <a:srgbClr val="D8EEF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4" name="Text 32"/>
          <p:cNvSpPr/>
          <p:nvPr/>
        </p:nvSpPr>
        <p:spPr>
          <a:xfrm>
            <a:off x="1828800" y="32004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2606040" y="3200400"/>
            <a:ext cx="713232" cy="621792"/>
          </a:xfrm>
          <a:prstGeom prst="rect">
            <a:avLst/>
          </a:prstGeom>
          <a:solidFill>
            <a:srgbClr val="D8EEF7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6" name="Text 34"/>
          <p:cNvSpPr/>
          <p:nvPr/>
        </p:nvSpPr>
        <p:spPr>
          <a:xfrm>
            <a:off x="2606040" y="32004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226890" y="1101852"/>
            <a:ext cx="2350008" cy="2075688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MT"/>
          </a:p>
        </p:txBody>
      </p:sp>
      <p:sp>
        <p:nvSpPr>
          <p:cNvPr id="39" name="Text 37"/>
          <p:cNvSpPr/>
          <p:nvPr/>
        </p:nvSpPr>
        <p:spPr>
          <a:xfrm>
            <a:off x="3840480" y="777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(3×3)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840480" y="1143000"/>
            <a:ext cx="713232" cy="621792"/>
          </a:xfrm>
          <a:prstGeom prst="rect">
            <a:avLst/>
          </a:prstGeom>
          <a:solidFill>
            <a:srgbClr val="D0EAF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41" name="Text 39"/>
          <p:cNvSpPr/>
          <p:nvPr/>
        </p:nvSpPr>
        <p:spPr>
          <a:xfrm>
            <a:off x="3840480" y="11430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617720" y="1143000"/>
            <a:ext cx="713232" cy="621792"/>
          </a:xfrm>
          <a:prstGeom prst="rect">
            <a:avLst/>
          </a:prstGeom>
          <a:solidFill>
            <a:srgbClr val="D0EAF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43" name="Text 41"/>
          <p:cNvSpPr/>
          <p:nvPr/>
        </p:nvSpPr>
        <p:spPr>
          <a:xfrm>
            <a:off x="4617720" y="11430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5394960" y="1143000"/>
            <a:ext cx="713232" cy="621792"/>
          </a:xfrm>
          <a:prstGeom prst="rect">
            <a:avLst/>
          </a:prstGeom>
          <a:solidFill>
            <a:srgbClr val="D0EAF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45" name="Text 43"/>
          <p:cNvSpPr/>
          <p:nvPr/>
        </p:nvSpPr>
        <p:spPr>
          <a:xfrm>
            <a:off x="5394960" y="11430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3840480" y="1828800"/>
            <a:ext cx="713232" cy="621792"/>
          </a:xfrm>
          <a:prstGeom prst="rect">
            <a:avLst/>
          </a:prstGeom>
          <a:solidFill>
            <a:srgbClr val="D0EAF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47" name="Text 45"/>
          <p:cNvSpPr/>
          <p:nvPr/>
        </p:nvSpPr>
        <p:spPr>
          <a:xfrm>
            <a:off x="3840480" y="18288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4617720" y="1828800"/>
            <a:ext cx="713232" cy="621792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49" name="Text 47"/>
          <p:cNvSpPr/>
          <p:nvPr/>
        </p:nvSpPr>
        <p:spPr>
          <a:xfrm>
            <a:off x="4617720" y="18288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394960" y="1828800"/>
            <a:ext cx="713232" cy="621792"/>
          </a:xfrm>
          <a:prstGeom prst="rect">
            <a:avLst/>
          </a:prstGeom>
          <a:solidFill>
            <a:srgbClr val="D0EAF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51" name="Text 49"/>
          <p:cNvSpPr/>
          <p:nvPr/>
        </p:nvSpPr>
        <p:spPr>
          <a:xfrm>
            <a:off x="5394960" y="18288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3840480" y="2514600"/>
            <a:ext cx="713232" cy="621792"/>
          </a:xfrm>
          <a:prstGeom prst="rect">
            <a:avLst/>
          </a:prstGeom>
          <a:solidFill>
            <a:srgbClr val="D0EAF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53" name="Text 51"/>
          <p:cNvSpPr/>
          <p:nvPr/>
        </p:nvSpPr>
        <p:spPr>
          <a:xfrm>
            <a:off x="3840480" y="25146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4617720" y="2514600"/>
            <a:ext cx="713232" cy="621792"/>
          </a:xfrm>
          <a:prstGeom prst="rect">
            <a:avLst/>
          </a:prstGeom>
          <a:solidFill>
            <a:srgbClr val="D0EAF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55" name="Text 53"/>
          <p:cNvSpPr/>
          <p:nvPr/>
        </p:nvSpPr>
        <p:spPr>
          <a:xfrm>
            <a:off x="4617720" y="25146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5394960" y="2514600"/>
            <a:ext cx="713232" cy="621792"/>
          </a:xfrm>
          <a:prstGeom prst="rect">
            <a:avLst/>
          </a:prstGeom>
          <a:solidFill>
            <a:srgbClr val="D0EAF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57" name="Text 55"/>
          <p:cNvSpPr/>
          <p:nvPr/>
        </p:nvSpPr>
        <p:spPr>
          <a:xfrm>
            <a:off x="5394960" y="251460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6437376" y="187288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60" name="Text 58"/>
          <p:cNvSpPr/>
          <p:nvPr/>
        </p:nvSpPr>
        <p:spPr>
          <a:xfrm>
            <a:off x="7315200" y="777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(2×2)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223760" y="1143000"/>
            <a:ext cx="749808" cy="621792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62" name="Text 60"/>
          <p:cNvSpPr/>
          <p:nvPr/>
        </p:nvSpPr>
        <p:spPr>
          <a:xfrm>
            <a:off x="7223760" y="114300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63" name="Shape 61"/>
          <p:cNvSpPr/>
          <p:nvPr/>
        </p:nvSpPr>
        <p:spPr>
          <a:xfrm>
            <a:off x="8046720" y="1143000"/>
            <a:ext cx="749808" cy="621792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64" name="Text 62"/>
          <p:cNvSpPr/>
          <p:nvPr/>
        </p:nvSpPr>
        <p:spPr>
          <a:xfrm>
            <a:off x="8046720" y="114300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7223760" y="1828800"/>
            <a:ext cx="749808" cy="621792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66" name="Text 64"/>
          <p:cNvSpPr/>
          <p:nvPr/>
        </p:nvSpPr>
        <p:spPr>
          <a:xfrm>
            <a:off x="7223760" y="182880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67" name="Shape 65"/>
          <p:cNvSpPr/>
          <p:nvPr/>
        </p:nvSpPr>
        <p:spPr>
          <a:xfrm>
            <a:off x="8046720" y="1828800"/>
            <a:ext cx="749808" cy="621792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68" name="Text 66"/>
          <p:cNvSpPr/>
          <p:nvPr/>
        </p:nvSpPr>
        <p:spPr>
          <a:xfrm>
            <a:off x="8046720" y="182880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B6758B9-1166-EE1B-B6FD-1DBBC35A1421}"/>
              </a:ext>
            </a:extLst>
          </p:cNvPr>
          <p:cNvGrpSpPr/>
          <p:nvPr/>
        </p:nvGrpSpPr>
        <p:grpSpPr>
          <a:xfrm>
            <a:off x="274320" y="4038860"/>
            <a:ext cx="8705088" cy="918970"/>
            <a:chOff x="274320" y="3927350"/>
            <a:chExt cx="8705088" cy="918970"/>
          </a:xfrm>
        </p:grpSpPr>
        <p:sp>
          <p:nvSpPr>
            <p:cNvPr id="69" name="Shape 67"/>
            <p:cNvSpPr/>
            <p:nvPr/>
          </p:nvSpPr>
          <p:spPr>
            <a:xfrm>
              <a:off x="384048" y="3927350"/>
              <a:ext cx="8595360" cy="91897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r>
                <a:rPr lang="en-US" sz="1700" b="1" dirty="0">
                  <a:solidFill>
                    <a:srgbClr val="C47D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Step 1: </a:t>
              </a:r>
              <a:r>
                <a:rPr lang="en-US" sz="1700" dirty="0">
                  <a:solidFill>
                    <a:srgbClr val="4A60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Multiply kernel over top-left 3×3 → 0·1+0·1+0·1+0·1+1·1+0·1+0·1+0·1+0·1 = </a:t>
              </a:r>
              <a:r>
                <a:rPr lang="en-US" sz="1700" b="1" dirty="0">
                  <a:solidFill>
                    <a:srgbClr val="00C2C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r>
                <a:rPr lang="en-US" sz="1700" dirty="0">
                  <a:solidFill>
                    <a:srgbClr val="0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
</a:t>
              </a:r>
              <a:r>
                <a:rPr lang="en-US" sz="1700" b="1" dirty="0">
                  <a:solidFill>
                    <a:srgbClr val="C47D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Step 2: </a:t>
              </a:r>
              <a:r>
                <a:rPr lang="en-US" sz="1700" dirty="0">
                  <a:solidFill>
                    <a:srgbClr val="4A60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Slide the kernel to the right by 1 and repeat for the row below.</a:t>
              </a:r>
              <a:r>
                <a:rPr lang="en-US" sz="1700" dirty="0">
                  <a:solidFill>
                    <a:srgbClr val="0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
</a:t>
              </a:r>
              <a:r>
                <a:rPr lang="en-US" sz="1700" b="1" dirty="0">
                  <a:solidFill>
                    <a:srgbClr val="C47D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Verify: </a:t>
              </a:r>
              <a:r>
                <a:rPr lang="en-US" sz="1700" b="1" dirty="0">
                  <a:solidFill>
                    <a:srgbClr val="0A162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 = (4–3+0)/1 +1 = 2</a:t>
              </a:r>
              <a:endParaRPr lang="en-US" sz="1700" dirty="0"/>
            </a:p>
          </p:txBody>
        </p:sp>
        <p:sp>
          <p:nvSpPr>
            <p:cNvPr id="70" name="Shape 68"/>
            <p:cNvSpPr/>
            <p:nvPr/>
          </p:nvSpPr>
          <p:spPr>
            <a:xfrm>
              <a:off x="274320" y="3927350"/>
              <a:ext cx="109728" cy="918970"/>
            </a:xfrm>
            <a:prstGeom prst="rect">
              <a:avLst/>
            </a:prstGeom>
            <a:solidFill>
              <a:srgbClr val="F5A623"/>
            </a:solidFill>
            <a:ln/>
          </p:spPr>
          <p:txBody>
            <a:bodyPr/>
            <a:lstStyle/>
            <a:p>
              <a:endParaRPr lang="en-MT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Specialist Families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81215" y="846552"/>
            <a:ext cx="8581571" cy="44257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51760" cy="384048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51760" cy="457200"/>
          </a:xfrm>
          <a:prstGeom prst="rect">
            <a:avLst/>
          </a:prstGeom>
          <a:solidFill>
            <a:srgbClr val="E84545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— Edge Detection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731520" cy="42976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16152" y="1572768"/>
            <a:ext cx="731520" cy="42976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0" name="Text 8"/>
          <p:cNvSpPr/>
          <p:nvPr/>
        </p:nvSpPr>
        <p:spPr>
          <a:xfrm>
            <a:off x="1216152" y="1572768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20824" y="1572768"/>
            <a:ext cx="731520" cy="42976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2" name="Text 10"/>
          <p:cNvSpPr/>
          <p:nvPr/>
        </p:nvSpPr>
        <p:spPr>
          <a:xfrm>
            <a:off x="2020824" y="1572768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2048256"/>
            <a:ext cx="731520" cy="42976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4" name="Text 12"/>
          <p:cNvSpPr/>
          <p:nvPr/>
        </p:nvSpPr>
        <p:spPr>
          <a:xfrm>
            <a:off x="411480" y="2048256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216152" y="2048256"/>
            <a:ext cx="731520" cy="429768"/>
          </a:xfrm>
          <a:prstGeom prst="rect">
            <a:avLst/>
          </a:prstGeom>
          <a:solidFill>
            <a:srgbClr val="E84545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6" name="Text 14"/>
          <p:cNvSpPr/>
          <p:nvPr/>
        </p:nvSpPr>
        <p:spPr>
          <a:xfrm>
            <a:off x="1216152" y="2048256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020824" y="2048256"/>
            <a:ext cx="731520" cy="42976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8" name="Text 16"/>
          <p:cNvSpPr/>
          <p:nvPr/>
        </p:nvSpPr>
        <p:spPr>
          <a:xfrm>
            <a:off x="2020824" y="2048256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2523744"/>
            <a:ext cx="731520" cy="42976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0" name="Text 18"/>
          <p:cNvSpPr/>
          <p:nvPr/>
        </p:nvSpPr>
        <p:spPr>
          <a:xfrm>
            <a:off x="411480" y="2523744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216152" y="2523744"/>
            <a:ext cx="731520" cy="42976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2" name="Text 20"/>
          <p:cNvSpPr/>
          <p:nvPr/>
        </p:nvSpPr>
        <p:spPr>
          <a:xfrm>
            <a:off x="1216152" y="2523744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20824" y="2523744"/>
            <a:ext cx="731520" cy="42976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4" name="Text 22"/>
          <p:cNvSpPr/>
          <p:nvPr/>
        </p:nvSpPr>
        <p:spPr>
          <a:xfrm>
            <a:off x="2020824" y="2523744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" y="307238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3383280"/>
            <a:ext cx="23408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rapid brightness changes (edges). Computes image gradients in X and Y directions. Identifies outlines of shapes.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46120" y="1005840"/>
            <a:ext cx="2651760" cy="384048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28" name="Shape 26"/>
          <p:cNvSpPr/>
          <p:nvPr/>
        </p:nvSpPr>
        <p:spPr>
          <a:xfrm>
            <a:off x="3246120" y="1005840"/>
            <a:ext cx="265176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9" name="Text 27"/>
          <p:cNvSpPr/>
          <p:nvPr/>
        </p:nvSpPr>
        <p:spPr>
          <a:xfrm>
            <a:off x="333756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— Smoothing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83280" y="1572768"/>
            <a:ext cx="731520" cy="42976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1" name="Text 29"/>
          <p:cNvSpPr/>
          <p:nvPr/>
        </p:nvSpPr>
        <p:spPr>
          <a:xfrm>
            <a:off x="3383280" y="1572768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187952" y="1572768"/>
            <a:ext cx="731520" cy="42976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3" name="Text 31"/>
          <p:cNvSpPr/>
          <p:nvPr/>
        </p:nvSpPr>
        <p:spPr>
          <a:xfrm>
            <a:off x="4187952" y="1572768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992624" y="1572768"/>
            <a:ext cx="731520" cy="42976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5" name="Text 33"/>
          <p:cNvSpPr/>
          <p:nvPr/>
        </p:nvSpPr>
        <p:spPr>
          <a:xfrm>
            <a:off x="4992624" y="1572768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383280" y="2048256"/>
            <a:ext cx="731520" cy="42976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7" name="Text 35"/>
          <p:cNvSpPr/>
          <p:nvPr/>
        </p:nvSpPr>
        <p:spPr>
          <a:xfrm>
            <a:off x="3383280" y="2048256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187952" y="2048256"/>
            <a:ext cx="731520" cy="42976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9" name="Text 37"/>
          <p:cNvSpPr/>
          <p:nvPr/>
        </p:nvSpPr>
        <p:spPr>
          <a:xfrm>
            <a:off x="4187952" y="2048256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992624" y="2048256"/>
            <a:ext cx="731520" cy="42976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41" name="Text 39"/>
          <p:cNvSpPr/>
          <p:nvPr/>
        </p:nvSpPr>
        <p:spPr>
          <a:xfrm>
            <a:off x="4992624" y="2048256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383280" y="2523744"/>
            <a:ext cx="731520" cy="42976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43" name="Text 41"/>
          <p:cNvSpPr/>
          <p:nvPr/>
        </p:nvSpPr>
        <p:spPr>
          <a:xfrm>
            <a:off x="3383280" y="2523744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187952" y="2523744"/>
            <a:ext cx="731520" cy="42976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45" name="Text 43"/>
          <p:cNvSpPr/>
          <p:nvPr/>
        </p:nvSpPr>
        <p:spPr>
          <a:xfrm>
            <a:off x="4187952" y="2523744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992624" y="2523744"/>
            <a:ext cx="731520" cy="42976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47" name="Text 45"/>
          <p:cNvSpPr/>
          <p:nvPr/>
        </p:nvSpPr>
        <p:spPr>
          <a:xfrm>
            <a:off x="4992624" y="2523744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337560" y="307238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383280" y="3383280"/>
            <a:ext cx="23408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Blurs the image with a bell-curve weight. Removes noise and irrelevant details so the model focuses on structure.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17920" y="1005840"/>
            <a:ext cx="2651760" cy="384048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 dirty="0"/>
          </a:p>
        </p:txBody>
      </p:sp>
      <p:sp>
        <p:nvSpPr>
          <p:cNvPr id="51" name="Shape 49"/>
          <p:cNvSpPr/>
          <p:nvPr/>
        </p:nvSpPr>
        <p:spPr>
          <a:xfrm>
            <a:off x="6217920" y="1005840"/>
            <a:ext cx="2651760" cy="4572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52" name="Text 50"/>
          <p:cNvSpPr/>
          <p:nvPr/>
        </p:nvSpPr>
        <p:spPr>
          <a:xfrm>
            <a:off x="630936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— Sharpening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355080" y="1572768"/>
            <a:ext cx="731520" cy="42976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54" name="Text 52"/>
          <p:cNvSpPr/>
          <p:nvPr/>
        </p:nvSpPr>
        <p:spPr>
          <a:xfrm>
            <a:off x="6355080" y="1572768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7159752" y="1572768"/>
            <a:ext cx="731520" cy="42976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56" name="Text 54"/>
          <p:cNvSpPr/>
          <p:nvPr/>
        </p:nvSpPr>
        <p:spPr>
          <a:xfrm>
            <a:off x="7159752" y="1572768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7964424" y="1572768"/>
            <a:ext cx="731520" cy="42976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58" name="Text 56"/>
          <p:cNvSpPr/>
          <p:nvPr/>
        </p:nvSpPr>
        <p:spPr>
          <a:xfrm>
            <a:off x="7964424" y="1572768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355080" y="2048256"/>
            <a:ext cx="731520" cy="42976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60" name="Text 58"/>
          <p:cNvSpPr/>
          <p:nvPr/>
        </p:nvSpPr>
        <p:spPr>
          <a:xfrm>
            <a:off x="6355080" y="2048256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159752" y="2048256"/>
            <a:ext cx="731520" cy="42976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62" name="Text 60"/>
          <p:cNvSpPr/>
          <p:nvPr/>
        </p:nvSpPr>
        <p:spPr>
          <a:xfrm>
            <a:off x="7159752" y="2048256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7964424" y="2048256"/>
            <a:ext cx="731520" cy="42976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64" name="Text 62"/>
          <p:cNvSpPr/>
          <p:nvPr/>
        </p:nvSpPr>
        <p:spPr>
          <a:xfrm>
            <a:off x="7964424" y="2048256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6355080" y="2523744"/>
            <a:ext cx="731520" cy="42976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66" name="Text 64"/>
          <p:cNvSpPr/>
          <p:nvPr/>
        </p:nvSpPr>
        <p:spPr>
          <a:xfrm>
            <a:off x="6355080" y="2523744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7159752" y="2523744"/>
            <a:ext cx="731520" cy="42976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68" name="Text 66"/>
          <p:cNvSpPr/>
          <p:nvPr/>
        </p:nvSpPr>
        <p:spPr>
          <a:xfrm>
            <a:off x="7159752" y="2523744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7964424" y="2523744"/>
            <a:ext cx="731520" cy="429768"/>
          </a:xfrm>
          <a:prstGeom prst="rect">
            <a:avLst/>
          </a:prstGeom>
          <a:solidFill>
            <a:srgbClr val="1A305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70" name="Text 68"/>
          <p:cNvSpPr/>
          <p:nvPr/>
        </p:nvSpPr>
        <p:spPr>
          <a:xfrm>
            <a:off x="7964424" y="2523744"/>
            <a:ext cx="731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6309360" y="307238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355080" y="3383280"/>
            <a:ext cx="234086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rapidly an edge is changing. Detects 'edges of edges’. Used in medical imaging and texture analysis for fine details.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Parameters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65176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651760" cy="50292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(S)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90061" y="1371600"/>
            <a:ext cx="2418048" cy="438912"/>
          </a:xfrm>
          <a:prstGeom prst="rect">
            <a:avLst/>
          </a:prstGeom>
          <a:solidFill>
            <a:srgbClr val="EEF8FB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= ⌊(I – K) / S⌋ + 1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005434"/>
            <a:ext cx="182880" cy="182880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0" name="Text 8"/>
          <p:cNvSpPr/>
          <p:nvPr/>
        </p:nvSpPr>
        <p:spPr>
          <a:xfrm>
            <a:off x="658368" y="1901952"/>
            <a:ext cx="214974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S=1: kernel visits every pixel, maximum spatial detail preserved</a:t>
            </a:r>
          </a:p>
        </p:txBody>
      </p:sp>
      <p:sp>
        <p:nvSpPr>
          <p:cNvPr id="11" name="Shape 9"/>
          <p:cNvSpPr/>
          <p:nvPr/>
        </p:nvSpPr>
        <p:spPr>
          <a:xfrm>
            <a:off x="411480" y="2599794"/>
            <a:ext cx="182880" cy="182880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2" name="Text 10"/>
          <p:cNvSpPr/>
          <p:nvPr/>
        </p:nvSpPr>
        <p:spPr>
          <a:xfrm>
            <a:off x="658368" y="2496312"/>
            <a:ext cx="194358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S=2: skips every other position, output halved, computation quartered</a:t>
            </a:r>
          </a:p>
        </p:txBody>
      </p:sp>
      <p:sp>
        <p:nvSpPr>
          <p:cNvPr id="13" name="Shape 11"/>
          <p:cNvSpPr/>
          <p:nvPr/>
        </p:nvSpPr>
        <p:spPr>
          <a:xfrm>
            <a:off x="411480" y="3194154"/>
            <a:ext cx="182880" cy="182880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4" name="Text 12"/>
          <p:cNvSpPr/>
          <p:nvPr/>
        </p:nvSpPr>
        <p:spPr>
          <a:xfrm>
            <a:off x="658368" y="3090672"/>
            <a:ext cx="20550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Unlike pooling, </a:t>
            </a:r>
            <a:r>
              <a:rPr lang="en-US" sz="1100" dirty="0" err="1"/>
              <a:t>strided</a:t>
            </a:r>
            <a:r>
              <a:rPr lang="en-US" sz="1100" dirty="0"/>
              <a:t> convolution learns </a:t>
            </a:r>
            <a:r>
              <a:rPr lang="en-US" sz="1100" i="1" dirty="0"/>
              <a:t>what</a:t>
            </a:r>
            <a:r>
              <a:rPr lang="en-US" sz="1100" dirty="0"/>
              <a:t> to compress, not just </a:t>
            </a:r>
            <a:r>
              <a:rPr lang="en-US" sz="1100" i="1" dirty="0"/>
              <a:t>how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788514"/>
            <a:ext cx="182880" cy="182880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6" name="Text 14"/>
          <p:cNvSpPr/>
          <p:nvPr/>
        </p:nvSpPr>
        <p:spPr>
          <a:xfrm>
            <a:off x="658368" y="3685032"/>
            <a:ext cx="20550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Large stride early in a network aggressively reduces memory cost</a:t>
            </a:r>
          </a:p>
        </p:txBody>
      </p:sp>
      <p:sp>
        <p:nvSpPr>
          <p:cNvPr id="17" name="Shape 15"/>
          <p:cNvSpPr/>
          <p:nvPr/>
        </p:nvSpPr>
        <p:spPr>
          <a:xfrm>
            <a:off x="3246120" y="777240"/>
            <a:ext cx="265176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18" name="Shape 16"/>
          <p:cNvSpPr/>
          <p:nvPr/>
        </p:nvSpPr>
        <p:spPr>
          <a:xfrm>
            <a:off x="3246120" y="777240"/>
            <a:ext cx="2651760" cy="5029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9" name="Text 17"/>
          <p:cNvSpPr/>
          <p:nvPr/>
        </p:nvSpPr>
        <p:spPr>
          <a:xfrm>
            <a:off x="3337560" y="777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(P)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349781" y="1371600"/>
            <a:ext cx="2444067" cy="438912"/>
          </a:xfrm>
          <a:prstGeom prst="rect">
            <a:avLst/>
          </a:prstGeom>
          <a:solidFill>
            <a:srgbClr val="EEF8FB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1" name="Text 19"/>
          <p:cNvSpPr/>
          <p:nvPr/>
        </p:nvSpPr>
        <p:spPr>
          <a:xfrm>
            <a:off x="3337560" y="137160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Same: P = (K–1) / 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2012868"/>
            <a:ext cx="182880" cy="18288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3" name="Text 21"/>
          <p:cNvSpPr/>
          <p:nvPr/>
        </p:nvSpPr>
        <p:spPr>
          <a:xfrm>
            <a:off x="3654491" y="1853256"/>
            <a:ext cx="2139357" cy="508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Without padding, a 3×3 kernel shrinks a 224px input by 2px per layer</a:t>
            </a:r>
          </a:p>
        </p:txBody>
      </p:sp>
      <p:sp>
        <p:nvSpPr>
          <p:cNvPr id="24" name="Shape 22"/>
          <p:cNvSpPr/>
          <p:nvPr/>
        </p:nvSpPr>
        <p:spPr>
          <a:xfrm>
            <a:off x="3383280" y="2607228"/>
            <a:ext cx="182880" cy="18288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5" name="Text 23"/>
          <p:cNvSpPr/>
          <p:nvPr/>
        </p:nvSpPr>
        <p:spPr>
          <a:xfrm>
            <a:off x="3630168" y="2480389"/>
            <a:ext cx="2139357" cy="535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Corner pixels are seen once without padding, </a:t>
            </a:r>
            <a:r>
              <a:rPr lang="en-US" sz="1100" dirty="0" err="1"/>
              <a:t>centre</a:t>
            </a:r>
            <a:r>
              <a:rPr lang="en-US" sz="1100" dirty="0"/>
              <a:t> pixels up to K² times — padding rebalances this</a:t>
            </a:r>
          </a:p>
        </p:txBody>
      </p:sp>
      <p:sp>
        <p:nvSpPr>
          <p:cNvPr id="26" name="Shape 24"/>
          <p:cNvSpPr/>
          <p:nvPr/>
        </p:nvSpPr>
        <p:spPr>
          <a:xfrm>
            <a:off x="3383280" y="3201588"/>
            <a:ext cx="182880" cy="18288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7" name="Text 25"/>
          <p:cNvSpPr/>
          <p:nvPr/>
        </p:nvSpPr>
        <p:spPr>
          <a:xfrm>
            <a:off x="3630168" y="3090672"/>
            <a:ext cx="213935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'Valid' padding (P=0): output smaller, no artificial data added</a:t>
            </a:r>
          </a:p>
        </p:txBody>
      </p:sp>
      <p:sp>
        <p:nvSpPr>
          <p:cNvPr id="28" name="Shape 26"/>
          <p:cNvSpPr/>
          <p:nvPr/>
        </p:nvSpPr>
        <p:spPr>
          <a:xfrm>
            <a:off x="3383280" y="3795948"/>
            <a:ext cx="182880" cy="18288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9" name="Text 27"/>
          <p:cNvSpPr/>
          <p:nvPr/>
        </p:nvSpPr>
        <p:spPr>
          <a:xfrm>
            <a:off x="3630168" y="3685032"/>
            <a:ext cx="202721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'Same' padding (P=(K–1)/2): output matches input size exactly at S=1</a:t>
            </a:r>
          </a:p>
        </p:txBody>
      </p:sp>
      <p:sp>
        <p:nvSpPr>
          <p:cNvPr id="30" name="Shape 28"/>
          <p:cNvSpPr/>
          <p:nvPr/>
        </p:nvSpPr>
        <p:spPr>
          <a:xfrm>
            <a:off x="6217920" y="777240"/>
            <a:ext cx="265176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31" name="Shape 29"/>
          <p:cNvSpPr/>
          <p:nvPr/>
        </p:nvSpPr>
        <p:spPr>
          <a:xfrm>
            <a:off x="6217920" y="777240"/>
            <a:ext cx="2651760" cy="50292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2" name="Text 30"/>
          <p:cNvSpPr/>
          <p:nvPr/>
        </p:nvSpPr>
        <p:spPr>
          <a:xfrm>
            <a:off x="6309360" y="777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Dilation (d)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333683" y="1371600"/>
            <a:ext cx="2420234" cy="438912"/>
          </a:xfrm>
          <a:prstGeom prst="rect">
            <a:avLst/>
          </a:prstGeom>
          <a:solidFill>
            <a:srgbClr val="EEF8FB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4" name="Text 32"/>
          <p:cNvSpPr/>
          <p:nvPr/>
        </p:nvSpPr>
        <p:spPr>
          <a:xfrm>
            <a:off x="6309360" y="137160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r>
              <a:rPr lang="en-US" sz="7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</a:t>
            </a:r>
            <a:r>
              <a:rPr lang="en-US" sz="12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K + (K–1)(d–1)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55080" y="2012868"/>
            <a:ext cx="182880" cy="18288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6" name="Text 34"/>
          <p:cNvSpPr/>
          <p:nvPr/>
        </p:nvSpPr>
        <p:spPr>
          <a:xfrm>
            <a:off x="6583680" y="1919944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Inserts gaps between kernel weights</a:t>
            </a:r>
          </a:p>
        </p:txBody>
      </p:sp>
      <p:sp>
        <p:nvSpPr>
          <p:cNvPr id="37" name="Shape 35"/>
          <p:cNvSpPr/>
          <p:nvPr/>
        </p:nvSpPr>
        <p:spPr>
          <a:xfrm>
            <a:off x="6355080" y="2607228"/>
            <a:ext cx="182880" cy="18288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8" name="Text 36"/>
          <p:cNvSpPr/>
          <p:nvPr/>
        </p:nvSpPr>
        <p:spPr>
          <a:xfrm>
            <a:off x="6569964" y="2496312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Expands receptive field cheaply</a:t>
            </a:r>
          </a:p>
        </p:txBody>
      </p:sp>
      <p:sp>
        <p:nvSpPr>
          <p:cNvPr id="39" name="Shape 37"/>
          <p:cNvSpPr/>
          <p:nvPr/>
        </p:nvSpPr>
        <p:spPr>
          <a:xfrm>
            <a:off x="6355080" y="3201588"/>
            <a:ext cx="182880" cy="18288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40" name="Text 38"/>
          <p:cNvSpPr/>
          <p:nvPr/>
        </p:nvSpPr>
        <p:spPr>
          <a:xfrm>
            <a:off x="6583680" y="3648605"/>
            <a:ext cx="2170237" cy="528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d=2 on a 3×3 kernel covers the same area as a 5×5 kernel using only 9 weights</a:t>
            </a:r>
          </a:p>
        </p:txBody>
      </p:sp>
      <p:sp>
        <p:nvSpPr>
          <p:cNvPr id="41" name="Shape 39"/>
          <p:cNvSpPr/>
          <p:nvPr/>
        </p:nvSpPr>
        <p:spPr>
          <a:xfrm>
            <a:off x="6355080" y="3795948"/>
            <a:ext cx="182880" cy="18288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42" name="Text 40"/>
          <p:cNvSpPr/>
          <p:nvPr/>
        </p:nvSpPr>
        <p:spPr>
          <a:xfrm>
            <a:off x="6583680" y="3095802"/>
            <a:ext cx="2130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d=1 is standard convolution — no gaps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of the Kernel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81215" y="758951"/>
            <a:ext cx="6922473" cy="45719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914400" cy="457200"/>
          </a:xfrm>
          <a:prstGeom prst="rect">
            <a:avLst/>
          </a:prstGeom>
          <a:solidFill>
            <a:srgbClr val="3E8EDE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1188720"/>
            <a:ext cx="274320" cy="0"/>
          </a:xfrm>
          <a:prstGeom prst="line">
            <a:avLst/>
          </a:prstGeom>
          <a:noFill/>
          <a:ln w="25400">
            <a:solidFill>
              <a:srgbClr val="3E8EDE"/>
            </a:solidFill>
            <a:prstDash val="solid"/>
          </a:ln>
        </p:spPr>
        <p:txBody>
          <a:bodyPr/>
          <a:lstStyle/>
          <a:p>
            <a:endParaRPr lang="en-MT"/>
          </a:p>
        </p:txBody>
      </p:sp>
      <p:sp>
        <p:nvSpPr>
          <p:cNvPr id="7" name="Text 5"/>
          <p:cNvSpPr/>
          <p:nvPr/>
        </p:nvSpPr>
        <p:spPr>
          <a:xfrm>
            <a:off x="1508760" y="960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Neocognitron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9601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hierarchy + shift invariance (Fukushima)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91440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0" name="Text 8"/>
          <p:cNvSpPr/>
          <p:nvPr/>
        </p:nvSpPr>
        <p:spPr>
          <a:xfrm>
            <a:off x="274320" y="16276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1989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1856232"/>
            <a:ext cx="27432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MT"/>
          </a:p>
        </p:txBody>
      </p:sp>
      <p:sp>
        <p:nvSpPr>
          <p:cNvPr id="12" name="Text 10"/>
          <p:cNvSpPr/>
          <p:nvPr/>
        </p:nvSpPr>
        <p:spPr>
          <a:xfrm>
            <a:off x="1508760" y="16276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TDNN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62763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Kernels on 1D sequences — proved universality (Waibel)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295144"/>
            <a:ext cx="914400" cy="45720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5" name="Text 13"/>
          <p:cNvSpPr/>
          <p:nvPr/>
        </p:nvSpPr>
        <p:spPr>
          <a:xfrm>
            <a:off x="274320" y="229514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1998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88720" y="2523744"/>
            <a:ext cx="27432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MT"/>
          </a:p>
        </p:txBody>
      </p:sp>
      <p:sp>
        <p:nvSpPr>
          <p:cNvPr id="17" name="Text 15"/>
          <p:cNvSpPr/>
          <p:nvPr/>
        </p:nvSpPr>
        <p:spPr>
          <a:xfrm>
            <a:off x="1508760" y="22951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LeNet-5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229514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 + Conv — end-to-end training (LeCun)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2962656"/>
            <a:ext cx="914400" cy="4572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0" name="Text 18"/>
          <p:cNvSpPr/>
          <p:nvPr/>
        </p:nvSpPr>
        <p:spPr>
          <a:xfrm>
            <a:off x="274320" y="296265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88720" y="3191256"/>
            <a:ext cx="2743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MT"/>
          </a:p>
        </p:txBody>
      </p:sp>
      <p:sp>
        <p:nvSpPr>
          <p:cNvPr id="22" name="Text 20"/>
          <p:cNvSpPr/>
          <p:nvPr/>
        </p:nvSpPr>
        <p:spPr>
          <a:xfrm>
            <a:off x="1508760" y="296265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296265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11×11 kernels, GPU, ReLU — deep learning era (Krizhevsky)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3630168"/>
            <a:ext cx="914400" cy="45720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5" name="Text 23"/>
          <p:cNvSpPr/>
          <p:nvPr/>
        </p:nvSpPr>
        <p:spPr>
          <a:xfrm>
            <a:off x="274320" y="3630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188720" y="3858768"/>
            <a:ext cx="274320" cy="0"/>
          </a:xfrm>
          <a:prstGeom prst="line">
            <a:avLst/>
          </a:prstGeom>
          <a:noFill/>
          <a:ln w="254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MT"/>
          </a:p>
        </p:txBody>
      </p:sp>
      <p:sp>
        <p:nvSpPr>
          <p:cNvPr id="27" name="Text 25"/>
          <p:cNvSpPr/>
          <p:nvPr/>
        </p:nvSpPr>
        <p:spPr>
          <a:xfrm>
            <a:off x="1508760" y="36301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Dilated Conv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83280" y="363016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receptive field at no extra cost (Yu &amp; Koltun)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4297680"/>
            <a:ext cx="914400" cy="45720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0" name="Text 28"/>
          <p:cNvSpPr/>
          <p:nvPr/>
        </p:nvSpPr>
        <p:spPr>
          <a:xfrm>
            <a:off x="274320" y="4297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2017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188720" y="4526280"/>
            <a:ext cx="274320" cy="0"/>
          </a:xfrm>
          <a:prstGeom prst="line">
            <a:avLst/>
          </a:prstGeom>
          <a:noFill/>
          <a:ln w="254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MT"/>
          </a:p>
        </p:txBody>
      </p:sp>
      <p:sp>
        <p:nvSpPr>
          <p:cNvPr id="32" name="Text 30"/>
          <p:cNvSpPr/>
          <p:nvPr/>
        </p:nvSpPr>
        <p:spPr>
          <a:xfrm>
            <a:off x="1508760" y="4297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83280" y="42976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separable — 90% cheaper on mobile (Howard)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Dynamic Kernels + Attention Mechanisms (Transformers) are pushing the frontier further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Convolution vs </a:t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Separable Convolution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24447"/>
            <a:ext cx="4023360" cy="372785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023360" cy="457200"/>
          </a:xfrm>
          <a:prstGeom prst="rect">
            <a:avLst/>
          </a:prstGeom>
          <a:solidFill>
            <a:srgbClr val="E84545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Convolution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61561"/>
            <a:ext cx="3794760" cy="16120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/>
              <a:t>One operation handles spatial patterns and channel mixing simultaneously </a:t>
            </a:r>
            <a:r>
              <a:rPr lang="en-US" sz="120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</a:t>
            </a:r>
            <a:r>
              <a:rPr lang="en-US" sz="13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K² × C</a:t>
            </a:r>
            <a:r>
              <a:rPr lang="en-US" sz="8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C</a:t>
            </a:r>
            <a:r>
              <a:rPr lang="en-US" sz="8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3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</a:p>
          <a:p>
            <a:r>
              <a:rPr lang="en-US" sz="1200" dirty="0"/>
              <a:t>Each of the 64 output channels requires a 3×3 filter applied across all 32 input channels simultaneously. </a:t>
            </a:r>
          </a:p>
          <a:p>
            <a:r>
              <a:rPr lang="en-US" sz="1200" dirty="0"/>
              <a:t>3 × 3 × 32 × 64 = </a:t>
            </a:r>
            <a:r>
              <a:rPr lang="en-US" sz="1400" b="1" dirty="0">
                <a:solidFill>
                  <a:srgbClr val="E8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18,432 operations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3657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6320" y="777240"/>
            <a:ext cx="4023360" cy="37750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16" name="Shape 14"/>
          <p:cNvSpPr/>
          <p:nvPr/>
        </p:nvSpPr>
        <p:spPr>
          <a:xfrm>
            <a:off x="4846320" y="777240"/>
            <a:ext cx="4023360" cy="45720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7" name="Text 15"/>
          <p:cNvSpPr/>
          <p:nvPr/>
        </p:nvSpPr>
        <p:spPr>
          <a:xfrm>
            <a:off x="4937760" y="777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Separable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1371600"/>
            <a:ext cx="3749040" cy="2169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– Depthwise: </a:t>
            </a:r>
            <a:r>
              <a:rPr lang="en-US" sz="120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filter per channel independently.</a:t>
            </a:r>
          </a:p>
          <a:p>
            <a:r>
              <a:rPr lang="en-US" sz="120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007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– Pointwise: </a:t>
            </a:r>
            <a:r>
              <a:rPr lang="en-US" sz="120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 kernel mixes channels.
</a:t>
            </a: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</a:t>
            </a:r>
            <a:r>
              <a:rPr lang="en-US" sz="13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K² × C</a:t>
            </a:r>
            <a:r>
              <a:rPr lang="en-US" sz="8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C</a:t>
            </a:r>
            <a:r>
              <a:rPr lang="en-US" sz="8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C</a:t>
            </a:r>
            <a:r>
              <a:rPr lang="en-US" sz="8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3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example:</a:t>
            </a:r>
            <a:endParaRPr lang="en-US" sz="1200" dirty="0"/>
          </a:p>
          <a:p>
            <a:r>
              <a:rPr lang="fr-FR" sz="1200" dirty="0"/>
              <a:t>3 × 3 × 32 = </a:t>
            </a:r>
            <a:r>
              <a:rPr lang="fr-FR" sz="1200" b="1" dirty="0"/>
              <a:t>288 </a:t>
            </a:r>
            <a:r>
              <a:rPr lang="fr-FR" sz="1200" b="1" dirty="0" err="1"/>
              <a:t>operations</a:t>
            </a:r>
            <a:r>
              <a:rPr lang="fr-FR" sz="1200" b="1" dirty="0"/>
              <a:t> </a:t>
            </a:r>
          </a:p>
          <a:p>
            <a:r>
              <a:rPr lang="fr-FR" sz="1200" dirty="0"/>
              <a:t>1 × 1 × 32 × 64 = </a:t>
            </a:r>
            <a:r>
              <a:rPr lang="fr-FR" sz="1200" b="1" dirty="0"/>
              <a:t>2,048 </a:t>
            </a:r>
            <a:r>
              <a:rPr lang="fr-FR" sz="1200" b="1" dirty="0" err="1"/>
              <a:t>operations</a:t>
            </a:r>
            <a:r>
              <a:rPr lang="fr-FR" sz="1200" b="1" dirty="0"/>
              <a:t> </a:t>
            </a:r>
          </a:p>
          <a:p>
            <a:r>
              <a:rPr lang="en-US" sz="1200" dirty="0"/>
              <a:t>288 + 2,048 = </a:t>
            </a: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2,336 ops</a:t>
            </a:r>
            <a:r>
              <a:rPr lang="en-US" sz="1200" i="1" dirty="0">
                <a:solidFill>
                  <a:srgbClr val="8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(~8× faster)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Kernels in Action: Self-Driving Cars, Medical AI &amp; Mobile Vision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1" y="1227937"/>
            <a:ext cx="8641079" cy="64193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5" name="Shape 3"/>
          <p:cNvSpPr/>
          <p:nvPr/>
        </p:nvSpPr>
        <p:spPr>
          <a:xfrm>
            <a:off x="274321" y="1417320"/>
            <a:ext cx="2697480" cy="347472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20B0913-8DEE-B7C5-9F84-C3E3E88E5A54}"/>
              </a:ext>
            </a:extLst>
          </p:cNvPr>
          <p:cNvGrpSpPr/>
          <p:nvPr/>
        </p:nvGrpSpPr>
        <p:grpSpPr>
          <a:xfrm>
            <a:off x="274320" y="1417320"/>
            <a:ext cx="2697480" cy="3337560"/>
            <a:chOff x="274320" y="1417320"/>
            <a:chExt cx="2697480" cy="3337560"/>
          </a:xfrm>
        </p:grpSpPr>
        <p:sp>
          <p:nvSpPr>
            <p:cNvPr id="6" name="Shape 4"/>
            <p:cNvSpPr/>
            <p:nvPr/>
          </p:nvSpPr>
          <p:spPr>
            <a:xfrm>
              <a:off x="274320" y="1417320"/>
              <a:ext cx="2697480" cy="82296"/>
            </a:xfrm>
            <a:prstGeom prst="rect">
              <a:avLst/>
            </a:prstGeom>
            <a:solidFill>
              <a:srgbClr val="E84545"/>
            </a:solidFill>
            <a:ln/>
          </p:spPr>
          <p:txBody>
            <a:bodyPr/>
            <a:lstStyle/>
            <a:p>
              <a:endParaRPr lang="en-MT"/>
            </a:p>
          </p:txBody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8652" y="1628895"/>
              <a:ext cx="411480" cy="411480"/>
            </a:xfrm>
            <a:prstGeom prst="rect">
              <a:avLst/>
            </a:prstGeom>
          </p:spPr>
        </p:pic>
        <p:sp>
          <p:nvSpPr>
            <p:cNvPr id="8" name="Text 5"/>
            <p:cNvSpPr/>
            <p:nvPr/>
          </p:nvSpPr>
          <p:spPr>
            <a:xfrm>
              <a:off x="868680" y="155448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Tesla Autopilot</a:t>
              </a:r>
              <a:endParaRPr lang="en-US" sz="13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868680" y="1847088"/>
              <a:ext cx="2103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E8454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Dilated Convolutions</a:t>
              </a:r>
              <a:endParaRPr lang="en-US" sz="100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411480" y="2148839"/>
              <a:ext cx="2450666" cy="45719"/>
            </a:xfrm>
            <a:prstGeom prst="rect">
              <a:avLst/>
            </a:prstGeom>
            <a:solidFill>
              <a:srgbClr val="E84545"/>
            </a:solidFill>
            <a:ln/>
          </p:spPr>
          <p:txBody>
            <a:bodyPr/>
            <a:lstStyle/>
            <a:p>
              <a:endParaRPr lang="en-MT"/>
            </a:p>
          </p:txBody>
        </p:sp>
        <p:sp>
          <p:nvSpPr>
            <p:cNvPr id="11" name="Text 8"/>
            <p:cNvSpPr/>
            <p:nvPr/>
          </p:nvSpPr>
          <p:spPr>
            <a:xfrm>
              <a:off x="411480" y="2240280"/>
              <a:ext cx="2383759" cy="2514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E8F4F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Dilated kernels (d=2,4,8) give the CNN a wide-angle view of the road without downsampling. The same 3×3 filter effectively sees a 15×15 area — crucial for detecting distant pedestrians while preserving lane-marking detail.</a:t>
              </a:r>
              <a:endParaRPr lang="en-US" sz="1100" dirty="0"/>
            </a:p>
          </p:txBody>
        </p:sp>
      </p:grpSp>
      <p:sp>
        <p:nvSpPr>
          <p:cNvPr id="12" name="Shape 9"/>
          <p:cNvSpPr/>
          <p:nvPr/>
        </p:nvSpPr>
        <p:spPr>
          <a:xfrm>
            <a:off x="3246120" y="1417320"/>
            <a:ext cx="2697480" cy="347472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13" name="Shape 10"/>
          <p:cNvSpPr/>
          <p:nvPr/>
        </p:nvSpPr>
        <p:spPr>
          <a:xfrm>
            <a:off x="3246120" y="1417320"/>
            <a:ext cx="2697480" cy="82296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MT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91" y="1613915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40480" y="1554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840480" y="184708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+ U-Net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383280" y="2148839"/>
            <a:ext cx="2422788" cy="45719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8" name="Text 14"/>
          <p:cNvSpPr/>
          <p:nvPr/>
        </p:nvSpPr>
        <p:spPr>
          <a:xfrm>
            <a:off x="3383280" y="2240280"/>
            <a:ext cx="228897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Radiologists use Sobel-seeded CNNs to segment tumour boundaries in MRI scans. The Laplacian kernel highlights micro-textures invisible to the human eye, enabling earlier cancer detection at sub-millimetre precision.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217920" y="1417320"/>
            <a:ext cx="2697480" cy="3474720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20" name="Shape 16"/>
          <p:cNvSpPr/>
          <p:nvPr/>
        </p:nvSpPr>
        <p:spPr>
          <a:xfrm>
            <a:off x="6217920" y="1417320"/>
            <a:ext cx="2697480" cy="8229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MT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818" y="1600199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12280" y="15544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Photos (MobileNet)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812280" y="184708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Separable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355079" y="2148839"/>
            <a:ext cx="2423161" cy="45719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5" name="Text 20"/>
          <p:cNvSpPr/>
          <p:nvPr/>
        </p:nvSpPr>
        <p:spPr>
          <a:xfrm>
            <a:off x="6355080" y="2240280"/>
            <a:ext cx="23774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MobileNets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a smaller version of a standard CNN, but by using </a:t>
            </a:r>
            <a:r>
              <a:rPr lang="en-US" sz="1100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separable convolution — separating spatial filtering from channel mixing. The result: 8× fewer calculations and real-time classification of 1B+ photos daily without draining battery.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4" name="Text 1"/>
          <p:cNvSpPr/>
          <p:nvPr/>
        </p:nvSpPr>
        <p:spPr>
          <a:xfrm>
            <a:off x="107052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Cases &amp; Limitations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28346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6" name="Shape 3"/>
          <p:cNvSpPr/>
          <p:nvPr/>
        </p:nvSpPr>
        <p:spPr>
          <a:xfrm>
            <a:off x="274320" y="777240"/>
            <a:ext cx="109728" cy="19202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7" name="Text 4"/>
          <p:cNvSpPr/>
          <p:nvPr/>
        </p:nvSpPr>
        <p:spPr>
          <a:xfrm>
            <a:off x="475488" y="8503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Receptive Field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5488" y="1252728"/>
            <a:ext cx="2560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kernels have a fixed-size view. They can miss relationships between distant pixels unless dilation or many layers are used.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777240"/>
            <a:ext cx="28346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10" name="Shape 7"/>
          <p:cNvSpPr/>
          <p:nvPr/>
        </p:nvSpPr>
        <p:spPr>
          <a:xfrm>
            <a:off x="3246120" y="777240"/>
            <a:ext cx="109728" cy="19202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1" name="Text 8"/>
          <p:cNvSpPr/>
          <p:nvPr/>
        </p:nvSpPr>
        <p:spPr>
          <a:xfrm>
            <a:off x="3447288" y="8503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Spatial Invariance Beyond Translation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47288" y="1252728"/>
            <a:ext cx="2560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Convolutions are translation-equivariant, NOT rotation or scale invariant. A '7' tilted 45° can fool the network unless augmented during training.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777240"/>
            <a:ext cx="28346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14" name="Shape 11"/>
          <p:cNvSpPr/>
          <p:nvPr/>
        </p:nvSpPr>
        <p:spPr>
          <a:xfrm>
            <a:off x="6217920" y="777240"/>
            <a:ext cx="109728" cy="192024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5" name="Text 12"/>
          <p:cNvSpPr/>
          <p:nvPr/>
        </p:nvSpPr>
        <p:spPr>
          <a:xfrm>
            <a:off x="6419088" y="8503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Artifacts (Zero Padding)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19088" y="1252728"/>
            <a:ext cx="2560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Zero-padding fills the image border with black pixels. Kernels near the edge multiply some weights against these zeros, producing weaker activations than identical patterns in the </a:t>
            </a:r>
            <a:r>
              <a:rPr lang="en-US" sz="1050" dirty="0" err="1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r>
              <a:rPr lang="en-US" sz="105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17" name="Shape 14"/>
          <p:cNvSpPr/>
          <p:nvPr/>
        </p:nvSpPr>
        <p:spPr>
          <a:xfrm>
            <a:off x="274320" y="2880360"/>
            <a:ext cx="28346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18" name="Shape 15"/>
          <p:cNvSpPr/>
          <p:nvPr/>
        </p:nvSpPr>
        <p:spPr>
          <a:xfrm>
            <a:off x="274320" y="2880360"/>
            <a:ext cx="109728" cy="192024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9" name="Text 16"/>
          <p:cNvSpPr/>
          <p:nvPr/>
        </p:nvSpPr>
        <p:spPr>
          <a:xfrm>
            <a:off x="475488" y="29535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Checkerboard Artifacts (Strided Upsampling)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5488" y="3355848"/>
            <a:ext cx="2560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Transposed convolutions with stride &gt; 1 create uneven pixel contributions, resulting in a checkerboard pattern in generated or segmented images. This occurs since some output pixels receive far more contributions than others.</a:t>
            </a:r>
          </a:p>
        </p:txBody>
      </p:sp>
      <p:sp>
        <p:nvSpPr>
          <p:cNvPr id="21" name="Shape 18"/>
          <p:cNvSpPr/>
          <p:nvPr/>
        </p:nvSpPr>
        <p:spPr>
          <a:xfrm>
            <a:off x="3246120" y="2880360"/>
            <a:ext cx="28346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22" name="Shape 19"/>
          <p:cNvSpPr/>
          <p:nvPr/>
        </p:nvSpPr>
        <p:spPr>
          <a:xfrm>
            <a:off x="3246120" y="2880360"/>
            <a:ext cx="109728" cy="19202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3" name="Text 20"/>
          <p:cNvSpPr/>
          <p:nvPr/>
        </p:nvSpPr>
        <p:spPr>
          <a:xfrm>
            <a:off x="3447288" y="29535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Bias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447288" y="3355848"/>
            <a:ext cx="2560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are biased toward texture rather than shape. A dog's fur pasted on a cat's shape is often classified as a dog. 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217920" y="2880360"/>
            <a:ext cx="28346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26" name="Shape 23"/>
          <p:cNvSpPr/>
          <p:nvPr/>
        </p:nvSpPr>
        <p:spPr>
          <a:xfrm>
            <a:off x="6217920" y="2880360"/>
            <a:ext cx="109728" cy="1920240"/>
          </a:xfrm>
          <a:prstGeom prst="rect">
            <a:avLst/>
          </a:prstGeom>
          <a:solidFill>
            <a:srgbClr val="E84545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7" name="Text 24"/>
          <p:cNvSpPr/>
          <p:nvPr/>
        </p:nvSpPr>
        <p:spPr>
          <a:xfrm>
            <a:off x="6419088" y="29535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Computational Cost (Large K)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19088" y="3355848"/>
            <a:ext cx="2560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11×11 kernels (AlexNet) require 121× more operations than 1×1. Large kernels are expensive and rarely outperform stacked smaller ones.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to Use Convolution Kernels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E84545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99669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Non-grid structured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2893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graphs, social networks, irregular point clouds — no spatial locality to exploit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92240" y="1060704"/>
            <a:ext cx="2331720" cy="457200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1" name="Text 9"/>
          <p:cNvSpPr/>
          <p:nvPr/>
        </p:nvSpPr>
        <p:spPr>
          <a:xfrm>
            <a:off x="6492240" y="106070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1920240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195681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global dependencies dominate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249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context far away matters more than local patterns (e.g., document classification)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92240" y="1993392"/>
            <a:ext cx="2331720" cy="457200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9" name="Text 17"/>
          <p:cNvSpPr/>
          <p:nvPr/>
        </p:nvSpPr>
        <p:spPr>
          <a:xfrm>
            <a:off x="6492240" y="199339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2880360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291693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 datasets (&lt; few hundred samples)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2095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Kernels overfit badly without sufficient data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92240" y="2953512"/>
            <a:ext cx="2331720" cy="457200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7" name="Text 25"/>
          <p:cNvSpPr/>
          <p:nvPr/>
        </p:nvSpPr>
        <p:spPr>
          <a:xfrm>
            <a:off x="6492240" y="29535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3840480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22960" y="387705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/ time-series with irregular sampling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416966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Kernels assume uniform spacing; irregular timestamps break the assumption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92240" y="3913632"/>
            <a:ext cx="2331720" cy="457200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5" name="Text 33"/>
          <p:cNvSpPr/>
          <p:nvPr/>
        </p:nvSpPr>
        <p:spPr>
          <a:xfrm>
            <a:off x="6492240" y="39136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Papers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36576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841248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94360" cy="841248"/>
          </a:xfrm>
          <a:prstGeom prst="rect">
            <a:avLst/>
          </a:prstGeom>
          <a:solidFill>
            <a:srgbClr val="3E8EDE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594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0332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LeCun et al. (1998)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28930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Gradient-Based Learning Applied to Document Recognition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LeNet-5: first end-to-end trained CNN. Blueprint of all commercial OCR.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938528"/>
            <a:ext cx="8595360" cy="841248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11" name="Shape 9"/>
          <p:cNvSpPr/>
          <p:nvPr/>
        </p:nvSpPr>
        <p:spPr>
          <a:xfrm>
            <a:off x="274320" y="1938528"/>
            <a:ext cx="594360" cy="84124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2" name="Text 10"/>
          <p:cNvSpPr/>
          <p:nvPr/>
        </p:nvSpPr>
        <p:spPr>
          <a:xfrm>
            <a:off x="274320" y="1938528"/>
            <a:ext cx="594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011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Krizhevsky et al. (2012)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2677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Classification with Deep CNNs (AlexNet)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5146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Kickstarted the deep learning era; introduced ReLU, dropout, GPU training.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16936"/>
            <a:ext cx="8595360" cy="841248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17" name="Shape 15"/>
          <p:cNvSpPr/>
          <p:nvPr/>
        </p:nvSpPr>
        <p:spPr>
          <a:xfrm>
            <a:off x="274320" y="2916936"/>
            <a:ext cx="594360" cy="841248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18" name="Text 16"/>
          <p:cNvSpPr/>
          <p:nvPr/>
        </p:nvSpPr>
        <p:spPr>
          <a:xfrm>
            <a:off x="274320" y="2916936"/>
            <a:ext cx="594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2990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&amp; Koltun (2016)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2461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Context Aggregation by Dilated Convolutions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49300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Dilated kernels for dense prediction — foundational for segmentation and autonomous driving.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895344"/>
            <a:ext cx="8595360" cy="841248"/>
          </a:xfrm>
          <a:prstGeom prst="rect">
            <a:avLst/>
          </a:prstGeom>
          <a:solidFill>
            <a:srgbClr val="1220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23" name="Shape 21"/>
          <p:cNvSpPr/>
          <p:nvPr/>
        </p:nvSpPr>
        <p:spPr>
          <a:xfrm>
            <a:off x="274320" y="3895344"/>
            <a:ext cx="594360" cy="841248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24" name="Text 22"/>
          <p:cNvSpPr/>
          <p:nvPr/>
        </p:nvSpPr>
        <p:spPr>
          <a:xfrm>
            <a:off x="274320" y="3895344"/>
            <a:ext cx="594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39684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Howard et al. (2017)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42245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MobileNets: Efficient CNNs for Mobile Vision Applications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447141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separable convolutions — enabled real-time AI on phones.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657600" cy="36576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MT"/>
          </a:p>
        </p:txBody>
      </p:sp>
      <p:sp>
        <p:nvSpPr>
          <p:cNvPr id="7" name="Text 5"/>
          <p:cNvSpPr/>
          <p:nvPr/>
        </p:nvSpPr>
        <p:spPr>
          <a:xfrm>
            <a:off x="447164" y="1517609"/>
            <a:ext cx="5577840" cy="45720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Kernels are like flashlights scanning for patterns using weight sharing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7164" y="2139401"/>
            <a:ext cx="5577840" cy="45720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= ⌊(I–K+2P)/S⌋+1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7164" y="2752867"/>
            <a:ext cx="5577840" cy="45720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Sobel/Gaussian/Laplacian are the base of all learned filters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7164" y="3382985"/>
            <a:ext cx="5577840" cy="45720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separable convolution leads to around 8× fewer operations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7164" y="4004777"/>
            <a:ext cx="5577840" cy="45720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on rotation, scale, non-grid data, long-range context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49440" y="1291590"/>
            <a:ext cx="2011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kernel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flashlight of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mind"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5836</TotalTime>
  <Words>1516</Words>
  <Application>Microsoft Office PowerPoint</Application>
  <PresentationFormat>On-screen Show (16:9)</PresentationFormat>
  <Paragraphs>255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 Kernels — Computer Vision Learning Pack</dc:title>
  <dc:subject>PptxGenJS Presentation</dc:subject>
  <dc:creator>PptxGenJS</dc:creator>
  <cp:lastModifiedBy>James Vella Gera</cp:lastModifiedBy>
  <cp:revision>77</cp:revision>
  <dcterms:created xsi:type="dcterms:W3CDTF">2026-05-05T10:54:45Z</dcterms:created>
  <dcterms:modified xsi:type="dcterms:W3CDTF">2026-05-09T12:14:50Z</dcterms:modified>
</cp:coreProperties>
</file>