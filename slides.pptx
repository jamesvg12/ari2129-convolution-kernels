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70" r:id="rId7"/>
    <p:sldId id="261" r:id="rId8"/>
    <p:sldId id="262" r:id="rId9"/>
    <p:sldId id="263" r:id="rId10"/>
    <p:sldId id="264" r:id="rId11"/>
    <p:sldId id="265" r:id="rId12"/>
    <p:sldId id="266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10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66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71333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2DAF9-D286-A3C6-612E-4B35340E7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103D98-C81B-65FF-76EE-3075E9749A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089D33-E90D-ABF1-89FF-380368B415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36ACF8-3E0A-9FFF-5A60-334ED0C73A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1230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3" name="Shape 1"/>
          <p:cNvSpPr/>
          <p:nvPr/>
        </p:nvSpPr>
        <p:spPr>
          <a:xfrm>
            <a:off x="7772400" y="0"/>
            <a:ext cx="1371600" cy="1371600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en-MT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27432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57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 2129 · Computer Vision for AI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 Kernels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57200" y="237744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Mathematical Engine of Modern Computer Vision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 flipV="1">
            <a:off x="525725" y="2926080"/>
            <a:ext cx="5562841" cy="76572"/>
          </a:xfrm>
          <a:prstGeom prst="rect">
            <a:avLst/>
          </a:prstGeom>
          <a:solidFill>
            <a:srgbClr val="007F85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6" name="Shape 13"/>
          <p:cNvSpPr/>
          <p:nvPr/>
        </p:nvSpPr>
        <p:spPr>
          <a:xfrm>
            <a:off x="457200" y="4372020"/>
            <a:ext cx="7683190" cy="457200"/>
          </a:xfrm>
          <a:prstGeom prst="roundRect">
            <a:avLst>
              <a:gd name="adj" fmla="val 16000"/>
            </a:avLst>
          </a:prstGeom>
          <a:solidFill>
            <a:srgbClr val="122040"/>
          </a:solidFill>
          <a:ln/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James Vella Gera, Gregory Vella, Nathan Tanti, Dusan </a:t>
            </a:r>
            <a:r>
              <a:rPr lang="en-US" dirty="0" err="1">
                <a:solidFill>
                  <a:schemeClr val="bg1"/>
                </a:solidFill>
              </a:rPr>
              <a:t>Dinic</a:t>
            </a:r>
            <a:r>
              <a:rPr lang="en-US" dirty="0">
                <a:solidFill>
                  <a:schemeClr val="bg1"/>
                </a:solidFill>
              </a:rPr>
              <a:t>, Dimitrios Paschalidis</a:t>
            </a:r>
            <a:endParaRPr lang="en-MT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3" name="Text 1"/>
          <p:cNvSpPr/>
          <p:nvPr/>
        </p:nvSpPr>
        <p:spPr>
          <a:xfrm>
            <a:off x="274320" y="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Convolution Kernel?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02336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109728" cy="3840480"/>
          </a:xfrm>
          <a:prstGeom prst="rect">
            <a:avLst/>
          </a:prstGeom>
          <a:solidFill>
            <a:srgbClr val="E84545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13258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computer sees an image as a massive grid of numbers.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286000"/>
            <a:ext cx="749808" cy="438912"/>
          </a:xfrm>
          <a:prstGeom prst="rect">
            <a:avLst/>
          </a:prstGeom>
          <a:solidFill>
            <a:srgbClr val="D8EEF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9" name="Text 7"/>
          <p:cNvSpPr/>
          <p:nvPr/>
        </p:nvSpPr>
        <p:spPr>
          <a:xfrm>
            <a:off x="594360" y="2286000"/>
            <a:ext cx="7498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127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417320" y="2286000"/>
            <a:ext cx="749808" cy="438912"/>
          </a:xfrm>
          <a:prstGeom prst="rect">
            <a:avLst/>
          </a:prstGeom>
          <a:solidFill>
            <a:srgbClr val="D8EEF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1" name="Text 9"/>
          <p:cNvSpPr/>
          <p:nvPr/>
        </p:nvSpPr>
        <p:spPr>
          <a:xfrm>
            <a:off x="1417320" y="2286000"/>
            <a:ext cx="7498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89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40280" y="2286000"/>
            <a:ext cx="749808" cy="438912"/>
          </a:xfrm>
          <a:prstGeom prst="rect">
            <a:avLst/>
          </a:prstGeom>
          <a:solidFill>
            <a:srgbClr val="B0D4E8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3" name="Text 11"/>
          <p:cNvSpPr/>
          <p:nvPr/>
        </p:nvSpPr>
        <p:spPr>
          <a:xfrm>
            <a:off x="2240280" y="2286000"/>
            <a:ext cx="7498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063240" y="2286000"/>
            <a:ext cx="749808" cy="438912"/>
          </a:xfrm>
          <a:prstGeom prst="rect">
            <a:avLst/>
          </a:prstGeom>
          <a:solidFill>
            <a:srgbClr val="D8EEF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5" name="Text 13"/>
          <p:cNvSpPr/>
          <p:nvPr/>
        </p:nvSpPr>
        <p:spPr>
          <a:xfrm>
            <a:off x="3063240" y="2286000"/>
            <a:ext cx="7498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" y="2788920"/>
            <a:ext cx="749808" cy="438912"/>
          </a:xfrm>
          <a:prstGeom prst="rect">
            <a:avLst/>
          </a:prstGeom>
          <a:solidFill>
            <a:srgbClr val="B0D4E8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7" name="Text 15"/>
          <p:cNvSpPr/>
          <p:nvPr/>
        </p:nvSpPr>
        <p:spPr>
          <a:xfrm>
            <a:off x="594360" y="2788920"/>
            <a:ext cx="7498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417320" y="2788920"/>
            <a:ext cx="749808" cy="438912"/>
          </a:xfrm>
          <a:prstGeom prst="rect">
            <a:avLst/>
          </a:prstGeom>
          <a:solidFill>
            <a:srgbClr val="D8EEF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9" name="Text 17"/>
          <p:cNvSpPr/>
          <p:nvPr/>
        </p:nvSpPr>
        <p:spPr>
          <a:xfrm>
            <a:off x="1417320" y="2788920"/>
            <a:ext cx="7498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132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240280" y="2788920"/>
            <a:ext cx="749808" cy="438912"/>
          </a:xfrm>
          <a:prstGeom prst="rect">
            <a:avLst/>
          </a:prstGeom>
          <a:solidFill>
            <a:srgbClr val="D8EEF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21" name="Text 19"/>
          <p:cNvSpPr/>
          <p:nvPr/>
        </p:nvSpPr>
        <p:spPr>
          <a:xfrm>
            <a:off x="2240280" y="2788920"/>
            <a:ext cx="7498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78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063240" y="2788920"/>
            <a:ext cx="749808" cy="438912"/>
          </a:xfrm>
          <a:prstGeom prst="rect">
            <a:avLst/>
          </a:prstGeom>
          <a:solidFill>
            <a:srgbClr val="B0D4E8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23" name="Text 21"/>
          <p:cNvSpPr/>
          <p:nvPr/>
        </p:nvSpPr>
        <p:spPr>
          <a:xfrm>
            <a:off x="3063240" y="2788920"/>
            <a:ext cx="7498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291840"/>
            <a:ext cx="749808" cy="438912"/>
          </a:xfrm>
          <a:prstGeom prst="rect">
            <a:avLst/>
          </a:prstGeom>
          <a:solidFill>
            <a:srgbClr val="D8EEF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25" name="Text 23"/>
          <p:cNvSpPr/>
          <p:nvPr/>
        </p:nvSpPr>
        <p:spPr>
          <a:xfrm>
            <a:off x="594360" y="3291840"/>
            <a:ext cx="7498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417320" y="3291840"/>
            <a:ext cx="749808" cy="438912"/>
          </a:xfrm>
          <a:prstGeom prst="rect">
            <a:avLst/>
          </a:prstGeom>
          <a:solidFill>
            <a:srgbClr val="D8EEF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27" name="Text 25"/>
          <p:cNvSpPr/>
          <p:nvPr/>
        </p:nvSpPr>
        <p:spPr>
          <a:xfrm>
            <a:off x="1417320" y="3291840"/>
            <a:ext cx="7498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240280" y="3291840"/>
            <a:ext cx="749808" cy="438912"/>
          </a:xfrm>
          <a:prstGeom prst="rect">
            <a:avLst/>
          </a:prstGeom>
          <a:solidFill>
            <a:srgbClr val="D8EEF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29" name="Text 27"/>
          <p:cNvSpPr/>
          <p:nvPr/>
        </p:nvSpPr>
        <p:spPr>
          <a:xfrm>
            <a:off x="2240280" y="3291840"/>
            <a:ext cx="7498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145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063240" y="3291840"/>
            <a:ext cx="749808" cy="438912"/>
          </a:xfrm>
          <a:prstGeom prst="rect">
            <a:avLst/>
          </a:prstGeom>
          <a:solidFill>
            <a:srgbClr val="B0D4E8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31" name="Text 29"/>
          <p:cNvSpPr/>
          <p:nvPr/>
        </p:nvSpPr>
        <p:spPr>
          <a:xfrm>
            <a:off x="3063240" y="3291840"/>
            <a:ext cx="7498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94360" y="3794760"/>
            <a:ext cx="749808" cy="438912"/>
          </a:xfrm>
          <a:prstGeom prst="rect">
            <a:avLst/>
          </a:prstGeom>
          <a:solidFill>
            <a:srgbClr val="D8EEF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33" name="Text 31"/>
          <p:cNvSpPr/>
          <p:nvPr/>
        </p:nvSpPr>
        <p:spPr>
          <a:xfrm>
            <a:off x="594360" y="3794760"/>
            <a:ext cx="7498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417320" y="3794760"/>
            <a:ext cx="749808" cy="438912"/>
          </a:xfrm>
          <a:prstGeom prst="rect">
            <a:avLst/>
          </a:prstGeom>
          <a:solidFill>
            <a:srgbClr val="B0D4E8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35" name="Text 33"/>
          <p:cNvSpPr/>
          <p:nvPr/>
        </p:nvSpPr>
        <p:spPr>
          <a:xfrm>
            <a:off x="1417320" y="3794760"/>
            <a:ext cx="7498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176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240280" y="3794760"/>
            <a:ext cx="749808" cy="438912"/>
          </a:xfrm>
          <a:prstGeom prst="rect">
            <a:avLst/>
          </a:prstGeom>
          <a:solidFill>
            <a:srgbClr val="B0D4E8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37" name="Text 35"/>
          <p:cNvSpPr/>
          <p:nvPr/>
        </p:nvSpPr>
        <p:spPr>
          <a:xfrm>
            <a:off x="2240280" y="3794760"/>
            <a:ext cx="7498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230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063240" y="3794760"/>
            <a:ext cx="749808" cy="438912"/>
          </a:xfrm>
          <a:prstGeom prst="rect">
            <a:avLst/>
          </a:prstGeom>
          <a:solidFill>
            <a:srgbClr val="D8EEF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39" name="Text 37"/>
          <p:cNvSpPr/>
          <p:nvPr/>
        </p:nvSpPr>
        <p:spPr>
          <a:xfrm>
            <a:off x="3063240" y="3794760"/>
            <a:ext cx="7498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55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846320" y="777240"/>
            <a:ext cx="402336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 dirty="0"/>
          </a:p>
        </p:txBody>
      </p:sp>
      <p:sp>
        <p:nvSpPr>
          <p:cNvPr id="41" name="Shape 39"/>
          <p:cNvSpPr/>
          <p:nvPr/>
        </p:nvSpPr>
        <p:spPr>
          <a:xfrm>
            <a:off x="4846320" y="777240"/>
            <a:ext cx="109728" cy="3840480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42" name="Text 40"/>
          <p:cNvSpPr/>
          <p:nvPr/>
        </p:nvSpPr>
        <p:spPr>
          <a:xfrm>
            <a:off x="5074920" y="8686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Flashlight Solution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5074920" y="1425199"/>
            <a:ext cx="3566160" cy="11183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= </a:t>
            </a:r>
            <a:r>
              <a:rPr lang="en-US" sz="1200" dirty="0">
                <a:solidFill>
                  <a:srgbClr val="4A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flashlight
</a:t>
            </a: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 = </a:t>
            </a:r>
            <a:r>
              <a:rPr lang="en-US" sz="1200" dirty="0">
                <a:solidFill>
                  <a:srgbClr val="4A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it moves
</a:t>
            </a: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Map = </a:t>
            </a:r>
            <a:r>
              <a:rPr lang="en-US" sz="1200" dirty="0">
                <a:solidFill>
                  <a:srgbClr val="4A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of what you found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4A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1200" b="1" dirty="0">
                <a:solidFill>
                  <a:srgbClr val="00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Sharing: </a:t>
            </a:r>
            <a:r>
              <a:rPr lang="en-US" sz="1200" dirty="0">
                <a:solidFill>
                  <a:srgbClr val="4A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filter, entire image → one 'flashlight' learns one pattern everywhere.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074920" y="269480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EA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3×3 Kernel sliding over input:</a:t>
            </a:r>
            <a:endParaRPr lang="en-US" sz="1000" dirty="0"/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7A491ABA-54F4-2AEA-B4F1-7A943146D9AC}"/>
              </a:ext>
            </a:extLst>
          </p:cNvPr>
          <p:cNvGrpSpPr/>
          <p:nvPr/>
        </p:nvGrpSpPr>
        <p:grpSpPr>
          <a:xfrm>
            <a:off x="5166360" y="2992913"/>
            <a:ext cx="1911096" cy="1326775"/>
            <a:chOff x="5166360" y="3226121"/>
            <a:chExt cx="1911096" cy="1326775"/>
          </a:xfrm>
        </p:grpSpPr>
        <p:sp>
          <p:nvSpPr>
            <p:cNvPr id="45" name="Shape 43"/>
            <p:cNvSpPr/>
            <p:nvPr/>
          </p:nvSpPr>
          <p:spPr>
            <a:xfrm>
              <a:off x="5166360" y="3703320"/>
              <a:ext cx="594360" cy="384048"/>
            </a:xfrm>
            <a:prstGeom prst="rect">
              <a:avLst/>
            </a:prstGeom>
            <a:solidFill>
              <a:srgbClr val="D0EAF0"/>
            </a:solidFill>
            <a:ln/>
          </p:spPr>
          <p:txBody>
            <a:bodyPr anchor="ctr"/>
            <a:lstStyle/>
            <a:p>
              <a:pPr algn="ctr"/>
              <a:r>
                <a:rPr lang="en-US" sz="1100" dirty="0">
                  <a:solidFill>
                    <a:srgbClr val="0A1628"/>
                  </a:solidFill>
                  <a:latin typeface="Consolas" pitchFamily="34" charset="0"/>
                </a:rPr>
                <a:t>0</a:t>
              </a:r>
              <a:endParaRPr lang="en-MT" sz="1100" dirty="0">
                <a:solidFill>
                  <a:srgbClr val="0A1628"/>
                </a:solidFill>
                <a:latin typeface="Consolas" pitchFamily="34" charset="0"/>
              </a:endParaRPr>
            </a:p>
          </p:txBody>
        </p:sp>
        <p:sp>
          <p:nvSpPr>
            <p:cNvPr id="47" name="Shape 45"/>
            <p:cNvSpPr/>
            <p:nvPr/>
          </p:nvSpPr>
          <p:spPr>
            <a:xfrm>
              <a:off x="5824728" y="3227535"/>
              <a:ext cx="594360" cy="384048"/>
            </a:xfrm>
            <a:prstGeom prst="rect">
              <a:avLst/>
            </a:prstGeom>
            <a:solidFill>
              <a:srgbClr val="D0EAF0"/>
            </a:solidFill>
            <a:ln/>
          </p:spPr>
          <p:txBody>
            <a:bodyPr anchor="ctr"/>
            <a:lstStyle/>
            <a:p>
              <a:pPr algn="ctr"/>
              <a:r>
                <a:rPr lang="en-US" sz="1100" dirty="0">
                  <a:solidFill>
                    <a:srgbClr val="0A1628"/>
                  </a:solidFill>
                  <a:latin typeface="Consolas" pitchFamily="34" charset="0"/>
                </a:rPr>
                <a:t>0</a:t>
              </a:r>
              <a:endParaRPr lang="en-MT" sz="1100" dirty="0">
                <a:solidFill>
                  <a:srgbClr val="0A1628"/>
                </a:solidFill>
                <a:latin typeface="Consolas" pitchFamily="34" charset="0"/>
              </a:endParaRPr>
            </a:p>
          </p:txBody>
        </p:sp>
        <p:sp>
          <p:nvSpPr>
            <p:cNvPr id="49" name="Shape 47"/>
            <p:cNvSpPr/>
            <p:nvPr/>
          </p:nvSpPr>
          <p:spPr>
            <a:xfrm>
              <a:off x="6483096" y="3703320"/>
              <a:ext cx="594360" cy="384048"/>
            </a:xfrm>
            <a:prstGeom prst="rect">
              <a:avLst/>
            </a:prstGeom>
            <a:solidFill>
              <a:srgbClr val="D0EAF0"/>
            </a:solidFill>
            <a:ln/>
          </p:spPr>
          <p:txBody>
            <a:bodyPr anchor="ctr"/>
            <a:lstStyle/>
            <a:p>
              <a:pPr algn="ctr"/>
              <a:r>
                <a:rPr lang="en-US" sz="1100" dirty="0">
                  <a:solidFill>
                    <a:srgbClr val="0A1628"/>
                  </a:solidFill>
                  <a:latin typeface="Consolas" pitchFamily="34" charset="0"/>
                </a:rPr>
                <a:t>0</a:t>
              </a:r>
              <a:endParaRPr lang="en-MT" sz="1100" dirty="0">
                <a:solidFill>
                  <a:srgbClr val="0A1628"/>
                </a:solidFill>
                <a:latin typeface="Consolas" pitchFamily="34" charset="0"/>
              </a:endParaRPr>
            </a:p>
          </p:txBody>
        </p:sp>
        <p:sp>
          <p:nvSpPr>
            <p:cNvPr id="51" name="Shape 49"/>
            <p:cNvSpPr/>
            <p:nvPr/>
          </p:nvSpPr>
          <p:spPr>
            <a:xfrm>
              <a:off x="5166360" y="3226121"/>
              <a:ext cx="594360" cy="384048"/>
            </a:xfrm>
            <a:prstGeom prst="rect">
              <a:avLst/>
            </a:prstGeom>
            <a:solidFill>
              <a:srgbClr val="D0EAF0"/>
            </a:solidFill>
            <a:ln/>
          </p:spPr>
          <p:txBody>
            <a:bodyPr anchor="ctr"/>
            <a:lstStyle/>
            <a:p>
              <a:pPr algn="ctr"/>
              <a:r>
                <a:rPr lang="en-US" sz="1100" dirty="0">
                  <a:solidFill>
                    <a:srgbClr val="0A1628"/>
                  </a:solidFill>
                  <a:latin typeface="Consolas" pitchFamily="34" charset="0"/>
                </a:rPr>
                <a:t>0</a:t>
              </a:r>
              <a:endParaRPr lang="en-MT" sz="1100" dirty="0">
                <a:solidFill>
                  <a:srgbClr val="0A1628"/>
                </a:solidFill>
                <a:latin typeface="Consolas" pitchFamily="34" charset="0"/>
              </a:endParaRPr>
            </a:p>
          </p:txBody>
        </p:sp>
        <p:sp>
          <p:nvSpPr>
            <p:cNvPr id="53" name="Shape 51"/>
            <p:cNvSpPr/>
            <p:nvPr/>
          </p:nvSpPr>
          <p:spPr>
            <a:xfrm>
              <a:off x="5824728" y="3701907"/>
              <a:ext cx="594360" cy="384048"/>
            </a:xfrm>
            <a:prstGeom prst="rect">
              <a:avLst/>
            </a:prstGeom>
            <a:solidFill>
              <a:srgbClr val="00C2CB"/>
            </a:solidFill>
            <a:ln/>
          </p:spPr>
          <p:txBody>
            <a:bodyPr anchor="ctr"/>
            <a:lstStyle/>
            <a:p>
              <a:pPr algn="ctr"/>
              <a:r>
                <a:rPr lang="en-US" sz="1100" dirty="0">
                  <a:solidFill>
                    <a:srgbClr val="0A1628"/>
                  </a:solidFill>
                  <a:latin typeface="Consolas" pitchFamily="34" charset="0"/>
                </a:rPr>
                <a:t>1</a:t>
              </a:r>
              <a:endParaRPr lang="en-MT" sz="1100" dirty="0">
                <a:solidFill>
                  <a:srgbClr val="0A1628"/>
                </a:solidFill>
                <a:latin typeface="Consolas" pitchFamily="34" charset="0"/>
              </a:endParaRPr>
            </a:p>
          </p:txBody>
        </p:sp>
        <p:sp>
          <p:nvSpPr>
            <p:cNvPr id="55" name="Shape 53"/>
            <p:cNvSpPr/>
            <p:nvPr/>
          </p:nvSpPr>
          <p:spPr>
            <a:xfrm>
              <a:off x="6483096" y="3226125"/>
              <a:ext cx="594360" cy="384048"/>
            </a:xfrm>
            <a:prstGeom prst="rect">
              <a:avLst/>
            </a:prstGeom>
            <a:solidFill>
              <a:srgbClr val="D0EAF0"/>
            </a:solidFill>
            <a:ln/>
          </p:spPr>
          <p:txBody>
            <a:bodyPr anchor="ctr"/>
            <a:lstStyle/>
            <a:p>
              <a:pPr algn="ctr"/>
              <a:r>
                <a:rPr lang="en-US" sz="1100" dirty="0">
                  <a:solidFill>
                    <a:srgbClr val="0A1628"/>
                  </a:solidFill>
                  <a:latin typeface="Consolas" pitchFamily="34" charset="0"/>
                </a:rPr>
                <a:t>0</a:t>
              </a:r>
              <a:endParaRPr lang="en-MT" sz="1100" dirty="0">
                <a:solidFill>
                  <a:srgbClr val="0A1628"/>
                </a:solidFill>
                <a:latin typeface="Consolas" pitchFamily="34" charset="0"/>
              </a:endParaRPr>
            </a:p>
          </p:txBody>
        </p:sp>
        <p:sp>
          <p:nvSpPr>
            <p:cNvPr id="57" name="Shape 55"/>
            <p:cNvSpPr/>
            <p:nvPr/>
          </p:nvSpPr>
          <p:spPr>
            <a:xfrm>
              <a:off x="5166360" y="4168847"/>
              <a:ext cx="594360" cy="384048"/>
            </a:xfrm>
            <a:prstGeom prst="rect">
              <a:avLst/>
            </a:prstGeom>
            <a:solidFill>
              <a:srgbClr val="D0EAF0"/>
            </a:solidFill>
            <a:ln/>
          </p:spPr>
          <p:txBody>
            <a:bodyPr anchor="ctr"/>
            <a:lstStyle/>
            <a:p>
              <a:pPr algn="ctr"/>
              <a:r>
                <a:rPr lang="en-US" sz="1100" dirty="0">
                  <a:solidFill>
                    <a:srgbClr val="0A1628"/>
                  </a:solidFill>
                  <a:latin typeface="Consolas" pitchFamily="34" charset="0"/>
                </a:rPr>
                <a:t>0</a:t>
              </a:r>
              <a:endParaRPr lang="en-MT" sz="1100" dirty="0">
                <a:solidFill>
                  <a:srgbClr val="0A1628"/>
                </a:solidFill>
                <a:latin typeface="Consolas" pitchFamily="34" charset="0"/>
              </a:endParaRPr>
            </a:p>
          </p:txBody>
        </p:sp>
        <p:sp>
          <p:nvSpPr>
            <p:cNvPr id="59" name="Shape 57"/>
            <p:cNvSpPr/>
            <p:nvPr/>
          </p:nvSpPr>
          <p:spPr>
            <a:xfrm>
              <a:off x="5824728" y="4168848"/>
              <a:ext cx="594360" cy="384048"/>
            </a:xfrm>
            <a:prstGeom prst="rect">
              <a:avLst/>
            </a:prstGeom>
            <a:solidFill>
              <a:srgbClr val="D0EAF0"/>
            </a:solidFill>
            <a:ln/>
          </p:spPr>
          <p:txBody>
            <a:bodyPr anchor="ctr"/>
            <a:lstStyle/>
            <a:p>
              <a:pPr algn="ctr"/>
              <a:r>
                <a:rPr lang="en-US" sz="1100" dirty="0">
                  <a:solidFill>
                    <a:srgbClr val="0A1628"/>
                  </a:solidFill>
                  <a:latin typeface="Consolas" pitchFamily="34" charset="0"/>
                </a:rPr>
                <a:t>0</a:t>
              </a:r>
              <a:endParaRPr lang="en-MT" sz="1100" dirty="0">
                <a:solidFill>
                  <a:srgbClr val="0A1628"/>
                </a:solidFill>
                <a:latin typeface="Consolas" pitchFamily="34" charset="0"/>
              </a:endParaRPr>
            </a:p>
          </p:txBody>
        </p:sp>
        <p:sp>
          <p:nvSpPr>
            <p:cNvPr id="61" name="Shape 59"/>
            <p:cNvSpPr/>
            <p:nvPr/>
          </p:nvSpPr>
          <p:spPr>
            <a:xfrm>
              <a:off x="6483096" y="4168848"/>
              <a:ext cx="594360" cy="384048"/>
            </a:xfrm>
            <a:prstGeom prst="rect">
              <a:avLst/>
            </a:prstGeom>
            <a:solidFill>
              <a:srgbClr val="D0EAF0"/>
            </a:solidFill>
            <a:ln/>
          </p:spPr>
          <p:txBody>
            <a:bodyPr anchor="ctr"/>
            <a:lstStyle/>
            <a:p>
              <a:pPr algn="ctr"/>
              <a:r>
                <a:rPr lang="en-US" sz="1100" dirty="0">
                  <a:solidFill>
                    <a:srgbClr val="0A1628"/>
                  </a:solidFill>
                  <a:latin typeface="Consolas" pitchFamily="34" charset="0"/>
                </a:rPr>
                <a:t>0</a:t>
              </a:r>
              <a:endParaRPr lang="en-MT" sz="1100" dirty="0">
                <a:solidFill>
                  <a:srgbClr val="0A1628"/>
                </a:solidFill>
                <a:latin typeface="Consolas" pitchFamily="34" charset="0"/>
              </a:endParaRPr>
            </a:p>
          </p:txBody>
        </p:sp>
      </p:grpSp>
      <p:sp>
        <p:nvSpPr>
          <p:cNvPr id="63" name="Text 61"/>
          <p:cNvSpPr/>
          <p:nvPr/>
        </p:nvSpPr>
        <p:spPr>
          <a:xfrm>
            <a:off x="7216326" y="3478435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EA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Filter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Universal Dimension Equation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868680"/>
            <a:ext cx="8595360" cy="45719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4" name="Shape 2"/>
          <p:cNvSpPr/>
          <p:nvPr/>
        </p:nvSpPr>
        <p:spPr>
          <a:xfrm>
            <a:off x="1252728" y="1316661"/>
            <a:ext cx="6400800" cy="548491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sz="2400" b="1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 =  ⌊ (I  –  K  +  2P) / S ⌋  +  1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2240280"/>
            <a:ext cx="2057400" cy="146304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7" name="Shape 5"/>
          <p:cNvSpPr/>
          <p:nvPr/>
        </p:nvSpPr>
        <p:spPr>
          <a:xfrm>
            <a:off x="274320" y="2240280"/>
            <a:ext cx="2057400" cy="411480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8" name="Text 6"/>
          <p:cNvSpPr/>
          <p:nvPr/>
        </p:nvSpPr>
        <p:spPr>
          <a:xfrm>
            <a:off x="274320" y="2240280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77240" y="224028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Size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6974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EA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or Height of input feature map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441448" y="2240280"/>
            <a:ext cx="2057400" cy="146304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12" name="Shape 10"/>
          <p:cNvSpPr/>
          <p:nvPr/>
        </p:nvSpPr>
        <p:spPr>
          <a:xfrm>
            <a:off x="2441448" y="2240280"/>
            <a:ext cx="2057400" cy="411480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3" name="Text 11"/>
          <p:cNvSpPr/>
          <p:nvPr/>
        </p:nvSpPr>
        <p:spPr>
          <a:xfrm>
            <a:off x="2441448" y="2240280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944368" y="224028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Size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32888" y="26974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050" dirty="0">
                <a:solidFill>
                  <a:srgbClr val="8EA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and height of the sliding filter. Odd numbers are normally used to have a </a:t>
            </a:r>
            <a:r>
              <a:rPr lang="en-US" sz="1050" dirty="0" err="1">
                <a:solidFill>
                  <a:srgbClr val="8EA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r>
              <a:rPr lang="en-US" sz="1050" dirty="0">
                <a:solidFill>
                  <a:srgbClr val="8EA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pixel.</a:t>
            </a:r>
          </a:p>
        </p:txBody>
      </p:sp>
      <p:sp>
        <p:nvSpPr>
          <p:cNvPr id="16" name="Shape 14"/>
          <p:cNvSpPr/>
          <p:nvPr/>
        </p:nvSpPr>
        <p:spPr>
          <a:xfrm>
            <a:off x="4608576" y="2240280"/>
            <a:ext cx="2057400" cy="146304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17" name="Shape 15"/>
          <p:cNvSpPr/>
          <p:nvPr/>
        </p:nvSpPr>
        <p:spPr>
          <a:xfrm>
            <a:off x="4608576" y="2240280"/>
            <a:ext cx="2057400" cy="411480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8" name="Text 16"/>
          <p:cNvSpPr/>
          <p:nvPr/>
        </p:nvSpPr>
        <p:spPr>
          <a:xfrm>
            <a:off x="4608576" y="2240280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111496" y="224028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00016" y="26974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050" dirty="0">
                <a:solidFill>
                  <a:srgbClr val="8EA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Zeros added around the input border before convolution</a:t>
            </a:r>
          </a:p>
        </p:txBody>
      </p:sp>
      <p:sp>
        <p:nvSpPr>
          <p:cNvPr id="21" name="Shape 19"/>
          <p:cNvSpPr/>
          <p:nvPr/>
        </p:nvSpPr>
        <p:spPr>
          <a:xfrm>
            <a:off x="6775704" y="2240280"/>
            <a:ext cx="2057400" cy="146304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22" name="Shape 20"/>
          <p:cNvSpPr/>
          <p:nvPr/>
        </p:nvSpPr>
        <p:spPr>
          <a:xfrm>
            <a:off x="6775704" y="2240280"/>
            <a:ext cx="2057400" cy="411480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23" name="Text 21"/>
          <p:cNvSpPr/>
          <p:nvPr/>
        </p:nvSpPr>
        <p:spPr>
          <a:xfrm>
            <a:off x="6775704" y="2240280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278624" y="224028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867144" y="26974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050" dirty="0">
                <a:solidFill>
                  <a:srgbClr val="8EA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Determines how many pixels the kernel jumps between positions</a:t>
            </a:r>
          </a:p>
        </p:txBody>
      </p:sp>
      <p:sp>
        <p:nvSpPr>
          <p:cNvPr id="26" name="Shape 24"/>
          <p:cNvSpPr/>
          <p:nvPr/>
        </p:nvSpPr>
        <p:spPr>
          <a:xfrm>
            <a:off x="274320" y="3794760"/>
            <a:ext cx="8595360" cy="1005840"/>
          </a:xfrm>
          <a:prstGeom prst="rect">
            <a:avLst/>
          </a:prstGeom>
          <a:solidFill>
            <a:srgbClr val="07102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27" name="Text 25"/>
          <p:cNvSpPr/>
          <p:nvPr/>
        </p:nvSpPr>
        <p:spPr>
          <a:xfrm>
            <a:off x="457200" y="3794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Example: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Input=4, Kernel=3, Padding=0, Stride=1 	 →  O = (4–3+0)/1 + 1 	= 2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Input=224, K=3, P=1, S=1 		 →  O = (224-3+2)/1 + 1 	= 224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3" name="Text 1"/>
          <p:cNvSpPr/>
          <p:nvPr/>
        </p:nvSpPr>
        <p:spPr>
          <a:xfrm>
            <a:off x="274320" y="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Calculation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(4×4)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713232" cy="621792"/>
          </a:xfrm>
          <a:prstGeom prst="rect">
            <a:avLst/>
          </a:prstGeom>
          <a:solidFill>
            <a:srgbClr val="BDE3EE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6" name="Text 4"/>
          <p:cNvSpPr/>
          <p:nvPr/>
        </p:nvSpPr>
        <p:spPr>
          <a:xfrm>
            <a:off x="274320" y="1143000"/>
            <a:ext cx="7132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51560" y="1143000"/>
            <a:ext cx="713232" cy="621792"/>
          </a:xfrm>
          <a:prstGeom prst="rect">
            <a:avLst/>
          </a:prstGeom>
          <a:solidFill>
            <a:srgbClr val="BDE3EE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8" name="Text 6"/>
          <p:cNvSpPr/>
          <p:nvPr/>
        </p:nvSpPr>
        <p:spPr>
          <a:xfrm>
            <a:off x="1051560" y="1143000"/>
            <a:ext cx="7132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828800" y="1143000"/>
            <a:ext cx="713232" cy="621792"/>
          </a:xfrm>
          <a:prstGeom prst="rect">
            <a:avLst/>
          </a:prstGeom>
          <a:solidFill>
            <a:srgbClr val="BDE3EE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0" name="Text 8"/>
          <p:cNvSpPr/>
          <p:nvPr/>
        </p:nvSpPr>
        <p:spPr>
          <a:xfrm>
            <a:off x="1828800" y="1143000"/>
            <a:ext cx="7132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606040" y="1143000"/>
            <a:ext cx="713232" cy="621792"/>
          </a:xfrm>
          <a:prstGeom prst="rect">
            <a:avLst/>
          </a:prstGeom>
          <a:solidFill>
            <a:srgbClr val="D8EEF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2" name="Text 10"/>
          <p:cNvSpPr/>
          <p:nvPr/>
        </p:nvSpPr>
        <p:spPr>
          <a:xfrm>
            <a:off x="2606040" y="1143000"/>
            <a:ext cx="7132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74320" y="1828800"/>
            <a:ext cx="713232" cy="621792"/>
          </a:xfrm>
          <a:prstGeom prst="rect">
            <a:avLst/>
          </a:prstGeom>
          <a:solidFill>
            <a:srgbClr val="BDE3EE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4" name="Text 12"/>
          <p:cNvSpPr/>
          <p:nvPr/>
        </p:nvSpPr>
        <p:spPr>
          <a:xfrm>
            <a:off x="274320" y="1828800"/>
            <a:ext cx="7132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051560" y="1828800"/>
            <a:ext cx="713232" cy="621792"/>
          </a:xfrm>
          <a:prstGeom prst="rect">
            <a:avLst/>
          </a:prstGeom>
          <a:solidFill>
            <a:srgbClr val="BDE3EE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6" name="Text 14"/>
          <p:cNvSpPr/>
          <p:nvPr/>
        </p:nvSpPr>
        <p:spPr>
          <a:xfrm>
            <a:off x="1051560" y="1828800"/>
            <a:ext cx="7132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828800" y="1828800"/>
            <a:ext cx="713232" cy="621792"/>
          </a:xfrm>
          <a:prstGeom prst="rect">
            <a:avLst/>
          </a:prstGeom>
          <a:solidFill>
            <a:srgbClr val="BDE3EE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8" name="Text 16"/>
          <p:cNvSpPr/>
          <p:nvPr/>
        </p:nvSpPr>
        <p:spPr>
          <a:xfrm>
            <a:off x="1828800" y="1828800"/>
            <a:ext cx="7132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2606040" y="1828800"/>
            <a:ext cx="713232" cy="621792"/>
          </a:xfrm>
          <a:prstGeom prst="rect">
            <a:avLst/>
          </a:prstGeom>
          <a:solidFill>
            <a:srgbClr val="D8EEF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20" name="Text 18"/>
          <p:cNvSpPr/>
          <p:nvPr/>
        </p:nvSpPr>
        <p:spPr>
          <a:xfrm>
            <a:off x="2606040" y="1828800"/>
            <a:ext cx="7132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274320" y="2514600"/>
            <a:ext cx="713232" cy="621792"/>
          </a:xfrm>
          <a:prstGeom prst="rect">
            <a:avLst/>
          </a:prstGeom>
          <a:solidFill>
            <a:srgbClr val="BDE3EE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22" name="Text 20"/>
          <p:cNvSpPr/>
          <p:nvPr/>
        </p:nvSpPr>
        <p:spPr>
          <a:xfrm>
            <a:off x="274320" y="2514600"/>
            <a:ext cx="7132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051560" y="2514600"/>
            <a:ext cx="713232" cy="621792"/>
          </a:xfrm>
          <a:prstGeom prst="rect">
            <a:avLst/>
          </a:prstGeom>
          <a:solidFill>
            <a:srgbClr val="BDE3EE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24" name="Text 22"/>
          <p:cNvSpPr/>
          <p:nvPr/>
        </p:nvSpPr>
        <p:spPr>
          <a:xfrm>
            <a:off x="1051560" y="2514600"/>
            <a:ext cx="7132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828800" y="2514600"/>
            <a:ext cx="713232" cy="621792"/>
          </a:xfrm>
          <a:prstGeom prst="rect">
            <a:avLst/>
          </a:prstGeom>
          <a:solidFill>
            <a:srgbClr val="BDE3EE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26" name="Text 24"/>
          <p:cNvSpPr/>
          <p:nvPr/>
        </p:nvSpPr>
        <p:spPr>
          <a:xfrm>
            <a:off x="1828800" y="2514600"/>
            <a:ext cx="7132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2606040" y="2514600"/>
            <a:ext cx="713232" cy="621792"/>
          </a:xfrm>
          <a:prstGeom prst="rect">
            <a:avLst/>
          </a:prstGeom>
          <a:solidFill>
            <a:srgbClr val="D8EEF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28" name="Text 26"/>
          <p:cNvSpPr/>
          <p:nvPr/>
        </p:nvSpPr>
        <p:spPr>
          <a:xfrm>
            <a:off x="2606040" y="2514600"/>
            <a:ext cx="7132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274320" y="3200400"/>
            <a:ext cx="713232" cy="621792"/>
          </a:xfrm>
          <a:prstGeom prst="rect">
            <a:avLst/>
          </a:prstGeom>
          <a:solidFill>
            <a:srgbClr val="D8EEF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30" name="Text 28"/>
          <p:cNvSpPr/>
          <p:nvPr/>
        </p:nvSpPr>
        <p:spPr>
          <a:xfrm>
            <a:off x="274320" y="3200400"/>
            <a:ext cx="7132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051560" y="3200400"/>
            <a:ext cx="713232" cy="621792"/>
          </a:xfrm>
          <a:prstGeom prst="rect">
            <a:avLst/>
          </a:prstGeom>
          <a:solidFill>
            <a:srgbClr val="D8EEF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32" name="Text 30"/>
          <p:cNvSpPr/>
          <p:nvPr/>
        </p:nvSpPr>
        <p:spPr>
          <a:xfrm>
            <a:off x="1051560" y="3200400"/>
            <a:ext cx="7132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828800" y="3200400"/>
            <a:ext cx="713232" cy="621792"/>
          </a:xfrm>
          <a:prstGeom prst="rect">
            <a:avLst/>
          </a:prstGeom>
          <a:solidFill>
            <a:srgbClr val="D8EEF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34" name="Text 32"/>
          <p:cNvSpPr/>
          <p:nvPr/>
        </p:nvSpPr>
        <p:spPr>
          <a:xfrm>
            <a:off x="1828800" y="3200400"/>
            <a:ext cx="7132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2606040" y="3200400"/>
            <a:ext cx="713232" cy="621792"/>
          </a:xfrm>
          <a:prstGeom prst="rect">
            <a:avLst/>
          </a:prstGeom>
          <a:solidFill>
            <a:srgbClr val="D8EEF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36" name="Text 34"/>
          <p:cNvSpPr/>
          <p:nvPr/>
        </p:nvSpPr>
        <p:spPr>
          <a:xfrm>
            <a:off x="2606040" y="3200400"/>
            <a:ext cx="7132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226890" y="1101852"/>
            <a:ext cx="2350008" cy="2075688"/>
          </a:xfrm>
          <a:prstGeom prst="rect">
            <a:avLst/>
          </a:prstGeom>
          <a:solidFill>
            <a:srgbClr val="FFFFFF">
              <a:alpha val="0"/>
            </a:srgbClr>
          </a:solidFill>
          <a:ln w="31750">
            <a:solidFill>
              <a:srgbClr val="00C2CB"/>
            </a:solidFill>
            <a:prstDash val="solid"/>
          </a:ln>
        </p:spPr>
        <p:txBody>
          <a:bodyPr/>
          <a:lstStyle/>
          <a:p>
            <a:endParaRPr lang="en-MT"/>
          </a:p>
        </p:txBody>
      </p:sp>
      <p:sp>
        <p:nvSpPr>
          <p:cNvPr id="39" name="Text 37"/>
          <p:cNvSpPr/>
          <p:nvPr/>
        </p:nvSpPr>
        <p:spPr>
          <a:xfrm>
            <a:off x="3840480" y="777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(3×3)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840480" y="1143000"/>
            <a:ext cx="713232" cy="621792"/>
          </a:xfrm>
          <a:prstGeom prst="rect">
            <a:avLst/>
          </a:prstGeom>
          <a:solidFill>
            <a:srgbClr val="D0EAF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41" name="Text 39"/>
          <p:cNvSpPr/>
          <p:nvPr/>
        </p:nvSpPr>
        <p:spPr>
          <a:xfrm>
            <a:off x="3840480" y="1143000"/>
            <a:ext cx="7132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4617720" y="1143000"/>
            <a:ext cx="713232" cy="621792"/>
          </a:xfrm>
          <a:prstGeom prst="rect">
            <a:avLst/>
          </a:prstGeom>
          <a:solidFill>
            <a:srgbClr val="D0EAF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43" name="Text 41"/>
          <p:cNvSpPr/>
          <p:nvPr/>
        </p:nvSpPr>
        <p:spPr>
          <a:xfrm>
            <a:off x="4617720" y="1143000"/>
            <a:ext cx="7132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5394960" y="1143000"/>
            <a:ext cx="713232" cy="621792"/>
          </a:xfrm>
          <a:prstGeom prst="rect">
            <a:avLst/>
          </a:prstGeom>
          <a:solidFill>
            <a:srgbClr val="D0EAF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45" name="Text 43"/>
          <p:cNvSpPr/>
          <p:nvPr/>
        </p:nvSpPr>
        <p:spPr>
          <a:xfrm>
            <a:off x="5394960" y="1143000"/>
            <a:ext cx="7132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3840480" y="1828800"/>
            <a:ext cx="713232" cy="621792"/>
          </a:xfrm>
          <a:prstGeom prst="rect">
            <a:avLst/>
          </a:prstGeom>
          <a:solidFill>
            <a:srgbClr val="D0EAF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47" name="Text 45"/>
          <p:cNvSpPr/>
          <p:nvPr/>
        </p:nvSpPr>
        <p:spPr>
          <a:xfrm>
            <a:off x="3840480" y="1828800"/>
            <a:ext cx="7132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4617720" y="1828800"/>
            <a:ext cx="713232" cy="621792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49" name="Text 47"/>
          <p:cNvSpPr/>
          <p:nvPr/>
        </p:nvSpPr>
        <p:spPr>
          <a:xfrm>
            <a:off x="4617720" y="1828800"/>
            <a:ext cx="7132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5394960" y="1828800"/>
            <a:ext cx="713232" cy="621792"/>
          </a:xfrm>
          <a:prstGeom prst="rect">
            <a:avLst/>
          </a:prstGeom>
          <a:solidFill>
            <a:srgbClr val="D0EAF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51" name="Text 49"/>
          <p:cNvSpPr/>
          <p:nvPr/>
        </p:nvSpPr>
        <p:spPr>
          <a:xfrm>
            <a:off x="5394960" y="1828800"/>
            <a:ext cx="7132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3840480" y="2514600"/>
            <a:ext cx="713232" cy="621792"/>
          </a:xfrm>
          <a:prstGeom prst="rect">
            <a:avLst/>
          </a:prstGeom>
          <a:solidFill>
            <a:srgbClr val="D0EAF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53" name="Text 51"/>
          <p:cNvSpPr/>
          <p:nvPr/>
        </p:nvSpPr>
        <p:spPr>
          <a:xfrm>
            <a:off x="3840480" y="2514600"/>
            <a:ext cx="7132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4617720" y="2514600"/>
            <a:ext cx="713232" cy="621792"/>
          </a:xfrm>
          <a:prstGeom prst="rect">
            <a:avLst/>
          </a:prstGeom>
          <a:solidFill>
            <a:srgbClr val="D0EAF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55" name="Text 53"/>
          <p:cNvSpPr/>
          <p:nvPr/>
        </p:nvSpPr>
        <p:spPr>
          <a:xfrm>
            <a:off x="4617720" y="2514600"/>
            <a:ext cx="7132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5394960" y="2514600"/>
            <a:ext cx="713232" cy="621792"/>
          </a:xfrm>
          <a:prstGeom prst="rect">
            <a:avLst/>
          </a:prstGeom>
          <a:solidFill>
            <a:srgbClr val="D0EAF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57" name="Text 55"/>
          <p:cNvSpPr/>
          <p:nvPr/>
        </p:nvSpPr>
        <p:spPr>
          <a:xfrm>
            <a:off x="5394960" y="2514600"/>
            <a:ext cx="7132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6437376" y="1872887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 dirty="0"/>
          </a:p>
        </p:txBody>
      </p:sp>
      <p:sp>
        <p:nvSpPr>
          <p:cNvPr id="60" name="Text 58"/>
          <p:cNvSpPr/>
          <p:nvPr/>
        </p:nvSpPr>
        <p:spPr>
          <a:xfrm>
            <a:off x="7315200" y="7772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(2×2)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7223760" y="1143000"/>
            <a:ext cx="749808" cy="621792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62" name="Text 60"/>
          <p:cNvSpPr/>
          <p:nvPr/>
        </p:nvSpPr>
        <p:spPr>
          <a:xfrm>
            <a:off x="7223760" y="1143000"/>
            <a:ext cx="74980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63" name="Shape 61"/>
          <p:cNvSpPr/>
          <p:nvPr/>
        </p:nvSpPr>
        <p:spPr>
          <a:xfrm>
            <a:off x="8046720" y="1143000"/>
            <a:ext cx="749808" cy="621792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64" name="Text 62"/>
          <p:cNvSpPr/>
          <p:nvPr/>
        </p:nvSpPr>
        <p:spPr>
          <a:xfrm>
            <a:off x="8046720" y="1143000"/>
            <a:ext cx="74980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65" name="Shape 63"/>
          <p:cNvSpPr/>
          <p:nvPr/>
        </p:nvSpPr>
        <p:spPr>
          <a:xfrm>
            <a:off x="7223760" y="1828800"/>
            <a:ext cx="749808" cy="621792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66" name="Text 64"/>
          <p:cNvSpPr/>
          <p:nvPr/>
        </p:nvSpPr>
        <p:spPr>
          <a:xfrm>
            <a:off x="7223760" y="1828800"/>
            <a:ext cx="74980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67" name="Shape 65"/>
          <p:cNvSpPr/>
          <p:nvPr/>
        </p:nvSpPr>
        <p:spPr>
          <a:xfrm>
            <a:off x="8046720" y="1828800"/>
            <a:ext cx="749808" cy="621792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68" name="Text 66"/>
          <p:cNvSpPr/>
          <p:nvPr/>
        </p:nvSpPr>
        <p:spPr>
          <a:xfrm>
            <a:off x="8046720" y="1828800"/>
            <a:ext cx="74980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AB6758B9-1166-EE1B-B6FD-1DBBC35A1421}"/>
              </a:ext>
            </a:extLst>
          </p:cNvPr>
          <p:cNvGrpSpPr/>
          <p:nvPr/>
        </p:nvGrpSpPr>
        <p:grpSpPr>
          <a:xfrm>
            <a:off x="274320" y="4038860"/>
            <a:ext cx="8705088" cy="918970"/>
            <a:chOff x="274320" y="3927350"/>
            <a:chExt cx="8705088" cy="918970"/>
          </a:xfrm>
        </p:grpSpPr>
        <p:sp>
          <p:nvSpPr>
            <p:cNvPr id="69" name="Shape 67"/>
            <p:cNvSpPr/>
            <p:nvPr/>
          </p:nvSpPr>
          <p:spPr>
            <a:xfrm>
              <a:off x="384048" y="3927350"/>
              <a:ext cx="8595360" cy="91897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r>
                <a:rPr lang="en-US" sz="1700" b="1" dirty="0">
                  <a:solidFill>
                    <a:srgbClr val="C47D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Step 1: </a:t>
              </a:r>
              <a:r>
                <a:rPr lang="en-US" sz="1700" dirty="0">
                  <a:solidFill>
                    <a:srgbClr val="4A60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Multiply kernel over top-left 3×3 → 0·1+0·1+0·1+0·1+1·1+0·1+0·1+0·1+0·1 = </a:t>
              </a:r>
              <a:r>
                <a:rPr lang="en-US" sz="1700" b="1" dirty="0">
                  <a:solidFill>
                    <a:srgbClr val="00C2C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</a:t>
              </a:r>
              <a:r>
                <a:rPr lang="en-US" sz="1700" dirty="0">
                  <a:solidFill>
                    <a:srgbClr val="00000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
</a:t>
              </a:r>
              <a:r>
                <a:rPr lang="en-US" sz="1700" b="1" dirty="0">
                  <a:solidFill>
                    <a:srgbClr val="C47D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Step 2: </a:t>
              </a:r>
              <a:r>
                <a:rPr lang="en-US" sz="1700" dirty="0">
                  <a:solidFill>
                    <a:srgbClr val="4A60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Slide the kernel to the right by 1 and repeat for the row below.</a:t>
              </a:r>
              <a:r>
                <a:rPr lang="en-US" sz="1700" dirty="0">
                  <a:solidFill>
                    <a:srgbClr val="00000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
</a:t>
              </a:r>
              <a:r>
                <a:rPr lang="en-US" sz="1700" b="1" dirty="0">
                  <a:solidFill>
                    <a:srgbClr val="C47D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Verify: </a:t>
              </a:r>
              <a:r>
                <a:rPr lang="en-US" sz="1700" b="1" dirty="0">
                  <a:solidFill>
                    <a:srgbClr val="0A162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 = (4–3+0)/1 +1 = 2</a:t>
              </a:r>
              <a:endParaRPr lang="en-US" sz="17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274320" y="3927350"/>
              <a:ext cx="109728" cy="918970"/>
            </a:xfrm>
            <a:prstGeom prst="rect">
              <a:avLst/>
            </a:prstGeom>
            <a:solidFill>
              <a:srgbClr val="F5A623"/>
            </a:solidFill>
            <a:ln/>
          </p:spPr>
          <p:txBody>
            <a:bodyPr/>
            <a:lstStyle/>
            <a:p>
              <a:endParaRPr lang="en-MT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Specialist Families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81215" y="846552"/>
            <a:ext cx="8581571" cy="44257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651760" cy="384048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651760" cy="457200"/>
          </a:xfrm>
          <a:prstGeom prst="rect">
            <a:avLst/>
          </a:prstGeom>
          <a:solidFill>
            <a:srgbClr val="E84545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6" name="Text 4"/>
          <p:cNvSpPr/>
          <p:nvPr/>
        </p:nvSpPr>
        <p:spPr>
          <a:xfrm>
            <a:off x="365760" y="10058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Sobel — Edge Detection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572768"/>
            <a:ext cx="731520" cy="429768"/>
          </a:xfrm>
          <a:prstGeom prst="rect">
            <a:avLst/>
          </a:prstGeom>
          <a:solidFill>
            <a:srgbClr val="1A305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8" name="Text 6"/>
          <p:cNvSpPr/>
          <p:nvPr/>
        </p:nvSpPr>
        <p:spPr>
          <a:xfrm>
            <a:off x="411480" y="1572768"/>
            <a:ext cx="731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216152" y="1572768"/>
            <a:ext cx="731520" cy="429768"/>
          </a:xfrm>
          <a:prstGeom prst="rect">
            <a:avLst/>
          </a:prstGeom>
          <a:solidFill>
            <a:srgbClr val="1A305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0" name="Text 8"/>
          <p:cNvSpPr/>
          <p:nvPr/>
        </p:nvSpPr>
        <p:spPr>
          <a:xfrm>
            <a:off x="1216152" y="1572768"/>
            <a:ext cx="731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020824" y="1572768"/>
            <a:ext cx="731520" cy="429768"/>
          </a:xfrm>
          <a:prstGeom prst="rect">
            <a:avLst/>
          </a:prstGeom>
          <a:solidFill>
            <a:srgbClr val="1A305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2" name="Text 10"/>
          <p:cNvSpPr/>
          <p:nvPr/>
        </p:nvSpPr>
        <p:spPr>
          <a:xfrm>
            <a:off x="2020824" y="1572768"/>
            <a:ext cx="731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2048256"/>
            <a:ext cx="731520" cy="429768"/>
          </a:xfrm>
          <a:prstGeom prst="rect">
            <a:avLst/>
          </a:prstGeom>
          <a:solidFill>
            <a:srgbClr val="1A305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4" name="Text 12"/>
          <p:cNvSpPr/>
          <p:nvPr/>
        </p:nvSpPr>
        <p:spPr>
          <a:xfrm>
            <a:off x="411480" y="2048256"/>
            <a:ext cx="731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216152" y="2048256"/>
            <a:ext cx="731520" cy="429768"/>
          </a:xfrm>
          <a:prstGeom prst="rect">
            <a:avLst/>
          </a:prstGeom>
          <a:solidFill>
            <a:srgbClr val="E84545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6" name="Text 14"/>
          <p:cNvSpPr/>
          <p:nvPr/>
        </p:nvSpPr>
        <p:spPr>
          <a:xfrm>
            <a:off x="1216152" y="2048256"/>
            <a:ext cx="731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020824" y="2048256"/>
            <a:ext cx="731520" cy="429768"/>
          </a:xfrm>
          <a:prstGeom prst="rect">
            <a:avLst/>
          </a:prstGeom>
          <a:solidFill>
            <a:srgbClr val="1A305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8" name="Text 16"/>
          <p:cNvSpPr/>
          <p:nvPr/>
        </p:nvSpPr>
        <p:spPr>
          <a:xfrm>
            <a:off x="2020824" y="2048256"/>
            <a:ext cx="731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11480" y="2523744"/>
            <a:ext cx="731520" cy="429768"/>
          </a:xfrm>
          <a:prstGeom prst="rect">
            <a:avLst/>
          </a:prstGeom>
          <a:solidFill>
            <a:srgbClr val="1A305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20" name="Text 18"/>
          <p:cNvSpPr/>
          <p:nvPr/>
        </p:nvSpPr>
        <p:spPr>
          <a:xfrm>
            <a:off x="411480" y="2523744"/>
            <a:ext cx="731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216152" y="2523744"/>
            <a:ext cx="731520" cy="429768"/>
          </a:xfrm>
          <a:prstGeom prst="rect">
            <a:avLst/>
          </a:prstGeom>
          <a:solidFill>
            <a:srgbClr val="1A305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22" name="Text 20"/>
          <p:cNvSpPr/>
          <p:nvPr/>
        </p:nvSpPr>
        <p:spPr>
          <a:xfrm>
            <a:off x="1216152" y="2523744"/>
            <a:ext cx="731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020824" y="2523744"/>
            <a:ext cx="731520" cy="429768"/>
          </a:xfrm>
          <a:prstGeom prst="rect">
            <a:avLst/>
          </a:prstGeom>
          <a:solidFill>
            <a:srgbClr val="1A305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24" name="Text 22"/>
          <p:cNvSpPr/>
          <p:nvPr/>
        </p:nvSpPr>
        <p:spPr>
          <a:xfrm>
            <a:off x="2020824" y="2523744"/>
            <a:ext cx="731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65760" y="3072384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11480" y="3383280"/>
            <a:ext cx="234086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rapid brightness changes (edges). Computes image gradients in X and Y directions. Identifies outlines of shapes.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246120" y="1005840"/>
            <a:ext cx="2651760" cy="384048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28" name="Shape 26"/>
          <p:cNvSpPr/>
          <p:nvPr/>
        </p:nvSpPr>
        <p:spPr>
          <a:xfrm>
            <a:off x="3246120" y="1005840"/>
            <a:ext cx="2651760" cy="4572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29" name="Text 27"/>
          <p:cNvSpPr/>
          <p:nvPr/>
        </p:nvSpPr>
        <p:spPr>
          <a:xfrm>
            <a:off x="3337560" y="10058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— Smoothing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383280" y="1572768"/>
            <a:ext cx="731520" cy="429768"/>
          </a:xfrm>
          <a:prstGeom prst="rect">
            <a:avLst/>
          </a:prstGeom>
          <a:solidFill>
            <a:srgbClr val="1A305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31" name="Text 29"/>
          <p:cNvSpPr/>
          <p:nvPr/>
        </p:nvSpPr>
        <p:spPr>
          <a:xfrm>
            <a:off x="3383280" y="1572768"/>
            <a:ext cx="731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187952" y="1572768"/>
            <a:ext cx="731520" cy="429768"/>
          </a:xfrm>
          <a:prstGeom prst="rect">
            <a:avLst/>
          </a:prstGeom>
          <a:solidFill>
            <a:srgbClr val="1A305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33" name="Text 31"/>
          <p:cNvSpPr/>
          <p:nvPr/>
        </p:nvSpPr>
        <p:spPr>
          <a:xfrm>
            <a:off x="4187952" y="1572768"/>
            <a:ext cx="731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992624" y="1572768"/>
            <a:ext cx="731520" cy="429768"/>
          </a:xfrm>
          <a:prstGeom prst="rect">
            <a:avLst/>
          </a:prstGeom>
          <a:solidFill>
            <a:srgbClr val="1A305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35" name="Text 33"/>
          <p:cNvSpPr/>
          <p:nvPr/>
        </p:nvSpPr>
        <p:spPr>
          <a:xfrm>
            <a:off x="4992624" y="1572768"/>
            <a:ext cx="731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383280" y="2048256"/>
            <a:ext cx="731520" cy="429768"/>
          </a:xfrm>
          <a:prstGeom prst="rect">
            <a:avLst/>
          </a:prstGeom>
          <a:solidFill>
            <a:srgbClr val="1A305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37" name="Text 35"/>
          <p:cNvSpPr/>
          <p:nvPr/>
        </p:nvSpPr>
        <p:spPr>
          <a:xfrm>
            <a:off x="3383280" y="2048256"/>
            <a:ext cx="731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4187952" y="2048256"/>
            <a:ext cx="731520" cy="429768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39" name="Text 37"/>
          <p:cNvSpPr/>
          <p:nvPr/>
        </p:nvSpPr>
        <p:spPr>
          <a:xfrm>
            <a:off x="4187952" y="2048256"/>
            <a:ext cx="731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4992624" y="2048256"/>
            <a:ext cx="731520" cy="429768"/>
          </a:xfrm>
          <a:prstGeom prst="rect">
            <a:avLst/>
          </a:prstGeom>
          <a:solidFill>
            <a:srgbClr val="1A305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41" name="Text 39"/>
          <p:cNvSpPr/>
          <p:nvPr/>
        </p:nvSpPr>
        <p:spPr>
          <a:xfrm>
            <a:off x="4992624" y="2048256"/>
            <a:ext cx="731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383280" y="2523744"/>
            <a:ext cx="731520" cy="429768"/>
          </a:xfrm>
          <a:prstGeom prst="rect">
            <a:avLst/>
          </a:prstGeom>
          <a:solidFill>
            <a:srgbClr val="1A305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43" name="Text 41"/>
          <p:cNvSpPr/>
          <p:nvPr/>
        </p:nvSpPr>
        <p:spPr>
          <a:xfrm>
            <a:off x="3383280" y="2523744"/>
            <a:ext cx="731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4187952" y="2523744"/>
            <a:ext cx="731520" cy="429768"/>
          </a:xfrm>
          <a:prstGeom prst="rect">
            <a:avLst/>
          </a:prstGeom>
          <a:solidFill>
            <a:srgbClr val="1A305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45" name="Text 43"/>
          <p:cNvSpPr/>
          <p:nvPr/>
        </p:nvSpPr>
        <p:spPr>
          <a:xfrm>
            <a:off x="4187952" y="2523744"/>
            <a:ext cx="731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992624" y="2523744"/>
            <a:ext cx="731520" cy="429768"/>
          </a:xfrm>
          <a:prstGeom prst="rect">
            <a:avLst/>
          </a:prstGeom>
          <a:solidFill>
            <a:srgbClr val="1A305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47" name="Text 45"/>
          <p:cNvSpPr/>
          <p:nvPr/>
        </p:nvSpPr>
        <p:spPr>
          <a:xfrm>
            <a:off x="4992624" y="2523744"/>
            <a:ext cx="731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3337560" y="3072384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383280" y="3383280"/>
            <a:ext cx="234086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Blurs the image with a bell-curve weight. Removes noise and irrelevant details so the model focuses on structure.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217920" y="1005840"/>
            <a:ext cx="2651760" cy="384048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 dirty="0"/>
          </a:p>
        </p:txBody>
      </p:sp>
      <p:sp>
        <p:nvSpPr>
          <p:cNvPr id="51" name="Shape 49"/>
          <p:cNvSpPr/>
          <p:nvPr/>
        </p:nvSpPr>
        <p:spPr>
          <a:xfrm>
            <a:off x="6217920" y="1005840"/>
            <a:ext cx="2651760" cy="45720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52" name="Text 50"/>
          <p:cNvSpPr/>
          <p:nvPr/>
        </p:nvSpPr>
        <p:spPr>
          <a:xfrm>
            <a:off x="6309360" y="10058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Laplacian — Sharpening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355080" y="1572768"/>
            <a:ext cx="731520" cy="429768"/>
          </a:xfrm>
          <a:prstGeom prst="rect">
            <a:avLst/>
          </a:prstGeom>
          <a:solidFill>
            <a:srgbClr val="1A305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54" name="Text 52"/>
          <p:cNvSpPr/>
          <p:nvPr/>
        </p:nvSpPr>
        <p:spPr>
          <a:xfrm>
            <a:off x="6355080" y="1572768"/>
            <a:ext cx="731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7159752" y="1572768"/>
            <a:ext cx="731520" cy="429768"/>
          </a:xfrm>
          <a:prstGeom prst="rect">
            <a:avLst/>
          </a:prstGeom>
          <a:solidFill>
            <a:srgbClr val="1A305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56" name="Text 54"/>
          <p:cNvSpPr/>
          <p:nvPr/>
        </p:nvSpPr>
        <p:spPr>
          <a:xfrm>
            <a:off x="7159752" y="1572768"/>
            <a:ext cx="731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7964424" y="1572768"/>
            <a:ext cx="731520" cy="429768"/>
          </a:xfrm>
          <a:prstGeom prst="rect">
            <a:avLst/>
          </a:prstGeom>
          <a:solidFill>
            <a:srgbClr val="1A305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58" name="Text 56"/>
          <p:cNvSpPr/>
          <p:nvPr/>
        </p:nvSpPr>
        <p:spPr>
          <a:xfrm>
            <a:off x="7964424" y="1572768"/>
            <a:ext cx="731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355080" y="2048256"/>
            <a:ext cx="731520" cy="429768"/>
          </a:xfrm>
          <a:prstGeom prst="rect">
            <a:avLst/>
          </a:prstGeom>
          <a:solidFill>
            <a:srgbClr val="1A305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60" name="Text 58"/>
          <p:cNvSpPr/>
          <p:nvPr/>
        </p:nvSpPr>
        <p:spPr>
          <a:xfrm>
            <a:off x="6355080" y="2048256"/>
            <a:ext cx="731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7159752" y="2048256"/>
            <a:ext cx="731520" cy="429768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62" name="Text 60"/>
          <p:cNvSpPr/>
          <p:nvPr/>
        </p:nvSpPr>
        <p:spPr>
          <a:xfrm>
            <a:off x="7159752" y="2048256"/>
            <a:ext cx="731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7964424" y="2048256"/>
            <a:ext cx="731520" cy="429768"/>
          </a:xfrm>
          <a:prstGeom prst="rect">
            <a:avLst/>
          </a:prstGeom>
          <a:solidFill>
            <a:srgbClr val="1A305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64" name="Text 62"/>
          <p:cNvSpPr/>
          <p:nvPr/>
        </p:nvSpPr>
        <p:spPr>
          <a:xfrm>
            <a:off x="7964424" y="2048256"/>
            <a:ext cx="731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6355080" y="2523744"/>
            <a:ext cx="731520" cy="429768"/>
          </a:xfrm>
          <a:prstGeom prst="rect">
            <a:avLst/>
          </a:prstGeom>
          <a:solidFill>
            <a:srgbClr val="1A305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66" name="Text 64"/>
          <p:cNvSpPr/>
          <p:nvPr/>
        </p:nvSpPr>
        <p:spPr>
          <a:xfrm>
            <a:off x="6355080" y="2523744"/>
            <a:ext cx="731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67" name="Shape 65"/>
          <p:cNvSpPr/>
          <p:nvPr/>
        </p:nvSpPr>
        <p:spPr>
          <a:xfrm>
            <a:off x="7159752" y="2523744"/>
            <a:ext cx="731520" cy="429768"/>
          </a:xfrm>
          <a:prstGeom prst="rect">
            <a:avLst/>
          </a:prstGeom>
          <a:solidFill>
            <a:srgbClr val="1A305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68" name="Text 66"/>
          <p:cNvSpPr/>
          <p:nvPr/>
        </p:nvSpPr>
        <p:spPr>
          <a:xfrm>
            <a:off x="7159752" y="2523744"/>
            <a:ext cx="731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</a:t>
            </a:r>
            <a:endParaRPr lang="en-US" sz="1400" dirty="0"/>
          </a:p>
        </p:txBody>
      </p:sp>
      <p:sp>
        <p:nvSpPr>
          <p:cNvPr id="69" name="Shape 67"/>
          <p:cNvSpPr/>
          <p:nvPr/>
        </p:nvSpPr>
        <p:spPr>
          <a:xfrm>
            <a:off x="7964424" y="2523744"/>
            <a:ext cx="731520" cy="429768"/>
          </a:xfrm>
          <a:prstGeom prst="rect">
            <a:avLst/>
          </a:prstGeom>
          <a:solidFill>
            <a:srgbClr val="1A305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70" name="Text 68"/>
          <p:cNvSpPr/>
          <p:nvPr/>
        </p:nvSpPr>
        <p:spPr>
          <a:xfrm>
            <a:off x="7964424" y="2523744"/>
            <a:ext cx="731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71" name="Text 69"/>
          <p:cNvSpPr/>
          <p:nvPr/>
        </p:nvSpPr>
        <p:spPr>
          <a:xfrm>
            <a:off x="6309360" y="3072384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6355080" y="3383280"/>
            <a:ext cx="234086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how rapidly an edge is changing. Detects 'edges of edges’. Used in medical imaging and texture analysis for fine details.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F1B4D-15B0-7678-5815-AB532A8F9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3">
            <a:extLst>
              <a:ext uri="{FF2B5EF4-FFF2-40B4-BE49-F238E27FC236}">
                <a16:creationId xmlns:a16="http://schemas.microsoft.com/office/drawing/2014/main" id="{0AAC52D1-755B-49EB-D362-6BE29870A2A6}"/>
              </a:ext>
            </a:extLst>
          </p:cNvPr>
          <p:cNvSpPr/>
          <p:nvPr/>
        </p:nvSpPr>
        <p:spPr>
          <a:xfrm>
            <a:off x="168812" y="992192"/>
            <a:ext cx="8700868" cy="3311584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E63E8ADE-4BDD-EEF0-B508-787DFB205272}"/>
              </a:ext>
            </a:extLst>
          </p:cNvPr>
          <p:cNvSpPr/>
          <p:nvPr/>
        </p:nvSpPr>
        <p:spPr>
          <a:xfrm>
            <a:off x="365760" y="13716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Kernels In Action</a:t>
            </a:r>
            <a:endParaRPr lang="en-US" sz="28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FF2ABB8-139B-E8D6-8358-F3BB5626D7BA}"/>
              </a:ext>
            </a:extLst>
          </p:cNvPr>
          <p:cNvSpPr/>
          <p:nvPr/>
        </p:nvSpPr>
        <p:spPr>
          <a:xfrm>
            <a:off x="365760" y="758952"/>
            <a:ext cx="8412480" cy="36576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MT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1B2935CB-A5A1-14AB-1AD6-3F918D66D3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62575"/>
            <a:ext cx="1807639" cy="1807639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C842F63-E55E-6F43-1C9B-B5097C4E66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5953" y="1163014"/>
            <a:ext cx="1807200" cy="18072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AEEF5F34-B17E-6D48-4226-BB96347D29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5830" y="1163014"/>
            <a:ext cx="1807200" cy="18072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F3B0CE1-B2C8-44C8-B302-168D5EB6DC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6076" y="1162575"/>
            <a:ext cx="1807200" cy="18072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53" name="Shape 3">
            <a:extLst>
              <a:ext uri="{FF2B5EF4-FFF2-40B4-BE49-F238E27FC236}">
                <a16:creationId xmlns:a16="http://schemas.microsoft.com/office/drawing/2014/main" id="{B982BED7-BFB8-2CD9-E26E-628A93F668D9}"/>
              </a:ext>
            </a:extLst>
          </p:cNvPr>
          <p:cNvSpPr/>
          <p:nvPr/>
        </p:nvSpPr>
        <p:spPr>
          <a:xfrm>
            <a:off x="365760" y="3294873"/>
            <a:ext cx="1807639" cy="435289"/>
          </a:xfrm>
          <a:prstGeom prst="rect">
            <a:avLst/>
          </a:prstGeom>
          <a:solidFill>
            <a:srgbClr val="C0000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GB" sz="11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MT" sz="1100" b="1" dirty="0">
              <a:solidFill>
                <a:srgbClr val="E8F4F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6" name="Shape 3">
            <a:extLst>
              <a:ext uri="{FF2B5EF4-FFF2-40B4-BE49-F238E27FC236}">
                <a16:creationId xmlns:a16="http://schemas.microsoft.com/office/drawing/2014/main" id="{8A2381C5-8F2F-860C-0533-E06C31D86A15}"/>
              </a:ext>
            </a:extLst>
          </p:cNvPr>
          <p:cNvSpPr/>
          <p:nvPr/>
        </p:nvSpPr>
        <p:spPr>
          <a:xfrm>
            <a:off x="2535637" y="3294873"/>
            <a:ext cx="1807639" cy="435289"/>
          </a:xfrm>
          <a:prstGeom prst="rect">
            <a:avLst/>
          </a:prstGeom>
          <a:solidFill>
            <a:srgbClr val="00B05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GB" sz="11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σ=5 — noise removed, edges softened</a:t>
            </a:r>
            <a:endParaRPr lang="en-US" sz="1100" b="1" dirty="0"/>
          </a:p>
        </p:txBody>
      </p:sp>
      <p:sp>
        <p:nvSpPr>
          <p:cNvPr id="57" name="Shape 3">
            <a:extLst>
              <a:ext uri="{FF2B5EF4-FFF2-40B4-BE49-F238E27FC236}">
                <a16:creationId xmlns:a16="http://schemas.microsoft.com/office/drawing/2014/main" id="{B1519CDD-A1C1-C7E1-CF53-DF9C12CA75BD}"/>
              </a:ext>
            </a:extLst>
          </p:cNvPr>
          <p:cNvSpPr/>
          <p:nvPr/>
        </p:nvSpPr>
        <p:spPr>
          <a:xfrm>
            <a:off x="4714957" y="3294873"/>
            <a:ext cx="1807639" cy="435289"/>
          </a:xfrm>
          <a:prstGeom prst="rect">
            <a:avLst/>
          </a:prstGeom>
          <a:solidFill>
            <a:srgbClr val="0070C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GB" sz="11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Sobel Combined — all edges detected</a:t>
            </a:r>
            <a:endParaRPr lang="en-US" sz="1100" b="1" dirty="0">
              <a:solidFill>
                <a:srgbClr val="E8F4F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8" name="Shape 3">
            <a:extLst>
              <a:ext uri="{FF2B5EF4-FFF2-40B4-BE49-F238E27FC236}">
                <a16:creationId xmlns:a16="http://schemas.microsoft.com/office/drawing/2014/main" id="{D74EC35B-5EB1-D16B-C572-339B6AB48A04}"/>
              </a:ext>
            </a:extLst>
          </p:cNvPr>
          <p:cNvSpPr/>
          <p:nvPr/>
        </p:nvSpPr>
        <p:spPr>
          <a:xfrm>
            <a:off x="6894277" y="3294873"/>
            <a:ext cx="1807639" cy="435289"/>
          </a:xfrm>
          <a:prstGeom prst="rect">
            <a:avLst/>
          </a:prstGeom>
          <a:solidFill>
            <a:srgbClr val="7030A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GB" sz="11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Laplacian — fine edge sensitivity</a:t>
            </a:r>
            <a:endParaRPr lang="en-MT" sz="1100" b="1" dirty="0">
              <a:solidFill>
                <a:srgbClr val="E8F4F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Text 7">
            <a:extLst>
              <a:ext uri="{FF2B5EF4-FFF2-40B4-BE49-F238E27FC236}">
                <a16:creationId xmlns:a16="http://schemas.microsoft.com/office/drawing/2014/main" id="{290C1E16-0240-9DC8-BD42-0B86FA071714}"/>
              </a:ext>
            </a:extLst>
          </p:cNvPr>
          <p:cNvSpPr/>
          <p:nvPr/>
        </p:nvSpPr>
        <p:spPr>
          <a:xfrm>
            <a:off x="1730326" y="4399835"/>
            <a:ext cx="5577840" cy="457200"/>
          </a:xfrm>
          <a:prstGeom prst="rect">
            <a:avLst/>
          </a:prstGeom>
          <a:solidFill>
            <a:schemeClr val="tx2">
              <a:lumMod val="75000"/>
            </a:schemeClr>
          </a:solidFill>
          <a:ln/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taken from Simulator</a:t>
            </a:r>
            <a:endParaRPr lang="en-US" sz="1350" i="1" dirty="0"/>
          </a:p>
        </p:txBody>
      </p:sp>
    </p:spTree>
    <p:extLst>
      <p:ext uri="{BB962C8B-B14F-4D97-AF65-F5344CB8AC3E}">
        <p14:creationId xmlns:p14="http://schemas.microsoft.com/office/powerpoint/2010/main" val="9448475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3" name="Text 1"/>
          <p:cNvSpPr/>
          <p:nvPr/>
        </p:nvSpPr>
        <p:spPr>
          <a:xfrm>
            <a:off x="274320" y="0"/>
            <a:ext cx="8595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 Parameters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2651760" cy="41605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651760" cy="502920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6" name="Text 4"/>
          <p:cNvSpPr/>
          <p:nvPr/>
        </p:nvSpPr>
        <p:spPr>
          <a:xfrm>
            <a:off x="365760" y="7772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 (S)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90061" y="1371600"/>
            <a:ext cx="2418048" cy="438912"/>
          </a:xfrm>
          <a:prstGeom prst="rect">
            <a:avLst/>
          </a:prstGeom>
          <a:solidFill>
            <a:srgbClr val="EEF8FB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= ⌊(I – K) / S⌋ + 1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2005434"/>
            <a:ext cx="182880" cy="182880"/>
          </a:xfrm>
          <a:prstGeom prst="ellipse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2149741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/>
              <a:t>S=1: kernel visits every pixel, maximum spatial detail preserved</a:t>
            </a:r>
          </a:p>
        </p:txBody>
      </p:sp>
      <p:sp>
        <p:nvSpPr>
          <p:cNvPr id="11" name="Shape 9"/>
          <p:cNvSpPr/>
          <p:nvPr/>
        </p:nvSpPr>
        <p:spPr>
          <a:xfrm>
            <a:off x="411480" y="2599794"/>
            <a:ext cx="182880" cy="182880"/>
          </a:xfrm>
          <a:prstGeom prst="ellipse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2" name="Text 10"/>
          <p:cNvSpPr/>
          <p:nvPr/>
        </p:nvSpPr>
        <p:spPr>
          <a:xfrm>
            <a:off x="658368" y="2496312"/>
            <a:ext cx="194358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/>
              <a:t>S=2: skips every other position, output halved, computation quartered</a:t>
            </a:r>
          </a:p>
        </p:txBody>
      </p:sp>
      <p:sp>
        <p:nvSpPr>
          <p:cNvPr id="13" name="Shape 11"/>
          <p:cNvSpPr/>
          <p:nvPr/>
        </p:nvSpPr>
        <p:spPr>
          <a:xfrm>
            <a:off x="411480" y="3194154"/>
            <a:ext cx="182880" cy="182880"/>
          </a:xfrm>
          <a:prstGeom prst="ellipse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4" name="Text 12"/>
          <p:cNvSpPr/>
          <p:nvPr/>
        </p:nvSpPr>
        <p:spPr>
          <a:xfrm>
            <a:off x="658368" y="3090672"/>
            <a:ext cx="20550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/>
              <a:t>Unlike pooling, </a:t>
            </a:r>
            <a:r>
              <a:rPr lang="en-US" sz="1100" dirty="0" err="1"/>
              <a:t>strided</a:t>
            </a:r>
            <a:r>
              <a:rPr lang="en-US" sz="1100" dirty="0"/>
              <a:t> convolution learns </a:t>
            </a:r>
            <a:r>
              <a:rPr lang="en-US" sz="1100" i="1" dirty="0"/>
              <a:t>what</a:t>
            </a:r>
            <a:r>
              <a:rPr lang="en-US" sz="1100" dirty="0"/>
              <a:t> to compress, not just </a:t>
            </a:r>
            <a:r>
              <a:rPr lang="en-US" sz="1100" i="1" dirty="0"/>
              <a:t>how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3788514"/>
            <a:ext cx="182880" cy="182880"/>
          </a:xfrm>
          <a:prstGeom prst="ellipse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6" name="Text 14"/>
          <p:cNvSpPr/>
          <p:nvPr/>
        </p:nvSpPr>
        <p:spPr>
          <a:xfrm>
            <a:off x="658368" y="3685032"/>
            <a:ext cx="20550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/>
              <a:t>Large stride early in a network aggressively reduces memory cost</a:t>
            </a:r>
          </a:p>
        </p:txBody>
      </p:sp>
      <p:sp>
        <p:nvSpPr>
          <p:cNvPr id="17" name="Shape 15"/>
          <p:cNvSpPr/>
          <p:nvPr/>
        </p:nvSpPr>
        <p:spPr>
          <a:xfrm>
            <a:off x="3246120" y="777240"/>
            <a:ext cx="2651760" cy="41605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18" name="Shape 16"/>
          <p:cNvSpPr/>
          <p:nvPr/>
        </p:nvSpPr>
        <p:spPr>
          <a:xfrm>
            <a:off x="3246120" y="777240"/>
            <a:ext cx="2651760" cy="50292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9" name="Text 17"/>
          <p:cNvSpPr/>
          <p:nvPr/>
        </p:nvSpPr>
        <p:spPr>
          <a:xfrm>
            <a:off x="3337560" y="7772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Padding (P)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349781" y="1371600"/>
            <a:ext cx="2444067" cy="438912"/>
          </a:xfrm>
          <a:prstGeom prst="rect">
            <a:avLst/>
          </a:prstGeom>
          <a:solidFill>
            <a:srgbClr val="EEF8FB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21" name="Text 19"/>
          <p:cNvSpPr/>
          <p:nvPr/>
        </p:nvSpPr>
        <p:spPr>
          <a:xfrm>
            <a:off x="3337560" y="1371600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Same: P = (K–1) / 2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383280" y="2012868"/>
            <a:ext cx="182880" cy="18288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23" name="Text 21"/>
          <p:cNvSpPr/>
          <p:nvPr/>
        </p:nvSpPr>
        <p:spPr>
          <a:xfrm>
            <a:off x="3654491" y="1853256"/>
            <a:ext cx="2139357" cy="508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/>
              <a:t>Without padding, a 3×3 kernel shrinks a 224px input by 2px per layer</a:t>
            </a:r>
          </a:p>
        </p:txBody>
      </p:sp>
      <p:sp>
        <p:nvSpPr>
          <p:cNvPr id="24" name="Shape 22"/>
          <p:cNvSpPr/>
          <p:nvPr/>
        </p:nvSpPr>
        <p:spPr>
          <a:xfrm>
            <a:off x="3383280" y="2607228"/>
            <a:ext cx="182880" cy="18288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25" name="Text 23"/>
          <p:cNvSpPr/>
          <p:nvPr/>
        </p:nvSpPr>
        <p:spPr>
          <a:xfrm>
            <a:off x="3630168" y="2480389"/>
            <a:ext cx="2139357" cy="5356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/>
              <a:t>Corner pixels are seen once without padding, </a:t>
            </a:r>
            <a:r>
              <a:rPr lang="en-US" sz="1100" dirty="0" err="1"/>
              <a:t>centre</a:t>
            </a:r>
            <a:r>
              <a:rPr lang="en-US" sz="1100" dirty="0"/>
              <a:t> pixels up to K² times — padding rebalances this</a:t>
            </a:r>
          </a:p>
        </p:txBody>
      </p:sp>
      <p:sp>
        <p:nvSpPr>
          <p:cNvPr id="26" name="Shape 24"/>
          <p:cNvSpPr/>
          <p:nvPr/>
        </p:nvSpPr>
        <p:spPr>
          <a:xfrm>
            <a:off x="3383280" y="3201588"/>
            <a:ext cx="182880" cy="18288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27" name="Text 25"/>
          <p:cNvSpPr/>
          <p:nvPr/>
        </p:nvSpPr>
        <p:spPr>
          <a:xfrm>
            <a:off x="3630168" y="3090672"/>
            <a:ext cx="213935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/>
              <a:t>'Valid' padding (P=0): output smaller, no artificial data added</a:t>
            </a:r>
          </a:p>
        </p:txBody>
      </p:sp>
      <p:sp>
        <p:nvSpPr>
          <p:cNvPr id="28" name="Shape 26"/>
          <p:cNvSpPr/>
          <p:nvPr/>
        </p:nvSpPr>
        <p:spPr>
          <a:xfrm>
            <a:off x="3383280" y="3795948"/>
            <a:ext cx="182880" cy="18288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29" name="Text 27"/>
          <p:cNvSpPr/>
          <p:nvPr/>
        </p:nvSpPr>
        <p:spPr>
          <a:xfrm>
            <a:off x="3630168" y="3685032"/>
            <a:ext cx="202721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/>
              <a:t>'Same' padding (P=(K–1)/2): output matches input size exactly at S=1</a:t>
            </a:r>
          </a:p>
        </p:txBody>
      </p:sp>
      <p:sp>
        <p:nvSpPr>
          <p:cNvPr id="30" name="Shape 28"/>
          <p:cNvSpPr/>
          <p:nvPr/>
        </p:nvSpPr>
        <p:spPr>
          <a:xfrm>
            <a:off x="6217920" y="777240"/>
            <a:ext cx="2651760" cy="41605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31" name="Shape 29"/>
          <p:cNvSpPr/>
          <p:nvPr/>
        </p:nvSpPr>
        <p:spPr>
          <a:xfrm>
            <a:off x="6217920" y="777240"/>
            <a:ext cx="2651760" cy="502920"/>
          </a:xfrm>
          <a:prstGeom prst="rect">
            <a:avLst/>
          </a:prstGeom>
          <a:solidFill>
            <a:srgbClr val="9B59B6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32" name="Text 30"/>
          <p:cNvSpPr/>
          <p:nvPr/>
        </p:nvSpPr>
        <p:spPr>
          <a:xfrm>
            <a:off x="6309360" y="7772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Dilation (d)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333683" y="1371600"/>
            <a:ext cx="2420234" cy="438912"/>
          </a:xfrm>
          <a:prstGeom prst="rect">
            <a:avLst/>
          </a:prstGeom>
          <a:solidFill>
            <a:srgbClr val="EEF8FB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34" name="Text 32"/>
          <p:cNvSpPr/>
          <p:nvPr/>
        </p:nvSpPr>
        <p:spPr>
          <a:xfrm>
            <a:off x="6309360" y="1371600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</a:t>
            </a:r>
            <a:r>
              <a:rPr lang="en-US" sz="7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</a:t>
            </a:r>
            <a:r>
              <a:rPr lang="en-US" sz="12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K + (K–1)(d–1)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355080" y="2012868"/>
            <a:ext cx="182880" cy="182880"/>
          </a:xfrm>
          <a:prstGeom prst="ellipse">
            <a:avLst/>
          </a:prstGeom>
          <a:solidFill>
            <a:srgbClr val="9B59B6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36" name="Text 34"/>
          <p:cNvSpPr/>
          <p:nvPr/>
        </p:nvSpPr>
        <p:spPr>
          <a:xfrm>
            <a:off x="6583680" y="1919944"/>
            <a:ext cx="21305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/>
              <a:t>Inserts gaps between kernel weights</a:t>
            </a:r>
          </a:p>
        </p:txBody>
      </p:sp>
      <p:sp>
        <p:nvSpPr>
          <p:cNvPr id="37" name="Shape 35"/>
          <p:cNvSpPr/>
          <p:nvPr/>
        </p:nvSpPr>
        <p:spPr>
          <a:xfrm>
            <a:off x="6355080" y="2607228"/>
            <a:ext cx="182880" cy="182880"/>
          </a:xfrm>
          <a:prstGeom prst="ellipse">
            <a:avLst/>
          </a:prstGeom>
          <a:solidFill>
            <a:srgbClr val="9B59B6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38" name="Text 36"/>
          <p:cNvSpPr/>
          <p:nvPr/>
        </p:nvSpPr>
        <p:spPr>
          <a:xfrm>
            <a:off x="6569964" y="2496312"/>
            <a:ext cx="21305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/>
              <a:t>Expands receptive field cheaply</a:t>
            </a:r>
          </a:p>
        </p:txBody>
      </p:sp>
      <p:sp>
        <p:nvSpPr>
          <p:cNvPr id="39" name="Shape 37"/>
          <p:cNvSpPr/>
          <p:nvPr/>
        </p:nvSpPr>
        <p:spPr>
          <a:xfrm>
            <a:off x="6355080" y="3201588"/>
            <a:ext cx="182880" cy="182880"/>
          </a:xfrm>
          <a:prstGeom prst="ellipse">
            <a:avLst/>
          </a:prstGeom>
          <a:solidFill>
            <a:srgbClr val="9B59B6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40" name="Text 38"/>
          <p:cNvSpPr/>
          <p:nvPr/>
        </p:nvSpPr>
        <p:spPr>
          <a:xfrm>
            <a:off x="6583680" y="3648605"/>
            <a:ext cx="2170237" cy="5289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/>
              <a:t>d=2 on a 3×3 kernel covers the same area as a 5×5 kernel using only 9 weights</a:t>
            </a:r>
          </a:p>
        </p:txBody>
      </p:sp>
      <p:sp>
        <p:nvSpPr>
          <p:cNvPr id="41" name="Shape 39"/>
          <p:cNvSpPr/>
          <p:nvPr/>
        </p:nvSpPr>
        <p:spPr>
          <a:xfrm>
            <a:off x="6355080" y="3795948"/>
            <a:ext cx="182880" cy="182880"/>
          </a:xfrm>
          <a:prstGeom prst="ellipse">
            <a:avLst/>
          </a:prstGeom>
          <a:solidFill>
            <a:srgbClr val="9B59B6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42" name="Text 40"/>
          <p:cNvSpPr/>
          <p:nvPr/>
        </p:nvSpPr>
        <p:spPr>
          <a:xfrm>
            <a:off x="6583680" y="3095802"/>
            <a:ext cx="21305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/>
              <a:t>d=1 is standard convolution — no gaps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Evolution of the Kernel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81215" y="758951"/>
            <a:ext cx="6922473" cy="45719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914400" cy="457200"/>
          </a:xfrm>
          <a:prstGeom prst="rect">
            <a:avLst/>
          </a:prstGeom>
          <a:solidFill>
            <a:srgbClr val="3E8EDE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1980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188720" y="1188720"/>
            <a:ext cx="274320" cy="0"/>
          </a:xfrm>
          <a:prstGeom prst="line">
            <a:avLst/>
          </a:prstGeom>
          <a:noFill/>
          <a:ln w="25400">
            <a:solidFill>
              <a:srgbClr val="3E8EDE"/>
            </a:solidFill>
            <a:prstDash val="solid"/>
          </a:ln>
        </p:spPr>
        <p:txBody>
          <a:bodyPr/>
          <a:lstStyle/>
          <a:p>
            <a:endParaRPr lang="en-MT"/>
          </a:p>
        </p:txBody>
      </p:sp>
      <p:sp>
        <p:nvSpPr>
          <p:cNvPr id="7" name="Text 5"/>
          <p:cNvSpPr/>
          <p:nvPr/>
        </p:nvSpPr>
        <p:spPr>
          <a:xfrm>
            <a:off x="1508760" y="960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Neocognitron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383280" y="9601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EA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hierarchy + shift invariance (Fukushima)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4320" y="1627632"/>
            <a:ext cx="914400" cy="4572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0" name="Text 8"/>
          <p:cNvSpPr/>
          <p:nvPr/>
        </p:nvSpPr>
        <p:spPr>
          <a:xfrm>
            <a:off x="274320" y="162763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1989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188720" y="1856232"/>
            <a:ext cx="27432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MT"/>
          </a:p>
        </p:txBody>
      </p:sp>
      <p:sp>
        <p:nvSpPr>
          <p:cNvPr id="12" name="Text 10"/>
          <p:cNvSpPr/>
          <p:nvPr/>
        </p:nvSpPr>
        <p:spPr>
          <a:xfrm>
            <a:off x="1508760" y="1627632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TDNN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83280" y="1627632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EA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Kernels on 1D sequences — proved universality (Waibel)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74320" y="2295144"/>
            <a:ext cx="914400" cy="457200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5" name="Text 13"/>
          <p:cNvSpPr/>
          <p:nvPr/>
        </p:nvSpPr>
        <p:spPr>
          <a:xfrm>
            <a:off x="274320" y="229514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1998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188720" y="2523744"/>
            <a:ext cx="274320" cy="0"/>
          </a:xfrm>
          <a:prstGeom prst="line">
            <a:avLst/>
          </a:prstGeom>
          <a:noFill/>
          <a:ln w="25400">
            <a:solidFill>
              <a:srgbClr val="00C2CB"/>
            </a:solidFill>
            <a:prstDash val="solid"/>
          </a:ln>
        </p:spPr>
        <p:txBody>
          <a:bodyPr/>
          <a:lstStyle/>
          <a:p>
            <a:endParaRPr lang="en-MT"/>
          </a:p>
        </p:txBody>
      </p:sp>
      <p:sp>
        <p:nvSpPr>
          <p:cNvPr id="17" name="Text 15"/>
          <p:cNvSpPr/>
          <p:nvPr/>
        </p:nvSpPr>
        <p:spPr>
          <a:xfrm>
            <a:off x="1508760" y="2295144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LeNet-5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383280" y="2295144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EA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Backprop + Conv — end-to-end training (LeCun)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74320" y="2962656"/>
            <a:ext cx="914400" cy="45720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20" name="Text 18"/>
          <p:cNvSpPr/>
          <p:nvPr/>
        </p:nvSpPr>
        <p:spPr>
          <a:xfrm>
            <a:off x="274320" y="2962656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2012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188720" y="3191256"/>
            <a:ext cx="274320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MT"/>
          </a:p>
        </p:txBody>
      </p:sp>
      <p:sp>
        <p:nvSpPr>
          <p:cNvPr id="22" name="Text 20"/>
          <p:cNvSpPr/>
          <p:nvPr/>
        </p:nvSpPr>
        <p:spPr>
          <a:xfrm>
            <a:off x="1508760" y="296265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AlexNet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383280" y="2962656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EA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11×11 kernels, GPU, ReLU — deep learning era (Krizhevsky)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74320" y="3630168"/>
            <a:ext cx="914400" cy="457200"/>
          </a:xfrm>
          <a:prstGeom prst="rect">
            <a:avLst/>
          </a:prstGeom>
          <a:solidFill>
            <a:srgbClr val="9B59B6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25" name="Text 23"/>
          <p:cNvSpPr/>
          <p:nvPr/>
        </p:nvSpPr>
        <p:spPr>
          <a:xfrm>
            <a:off x="274320" y="363016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2016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188720" y="3858768"/>
            <a:ext cx="274320" cy="0"/>
          </a:xfrm>
          <a:prstGeom prst="line">
            <a:avLst/>
          </a:prstGeom>
          <a:noFill/>
          <a:ln w="254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MT"/>
          </a:p>
        </p:txBody>
      </p:sp>
      <p:sp>
        <p:nvSpPr>
          <p:cNvPr id="27" name="Text 25"/>
          <p:cNvSpPr/>
          <p:nvPr/>
        </p:nvSpPr>
        <p:spPr>
          <a:xfrm>
            <a:off x="1508760" y="363016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Dilated Conv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383280" y="3630168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EA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Expanded receptive field at no extra cost (Yu &amp; Koltun)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74320" y="4297680"/>
            <a:ext cx="914400" cy="457200"/>
          </a:xfrm>
          <a:prstGeom prst="rect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30" name="Text 28"/>
          <p:cNvSpPr/>
          <p:nvPr/>
        </p:nvSpPr>
        <p:spPr>
          <a:xfrm>
            <a:off x="274320" y="42976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2017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188720" y="4526280"/>
            <a:ext cx="274320" cy="0"/>
          </a:xfrm>
          <a:prstGeom prst="line">
            <a:avLst/>
          </a:prstGeom>
          <a:noFill/>
          <a:ln w="254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MT"/>
          </a:p>
        </p:txBody>
      </p:sp>
      <p:sp>
        <p:nvSpPr>
          <p:cNvPr id="32" name="Text 30"/>
          <p:cNvSpPr/>
          <p:nvPr/>
        </p:nvSpPr>
        <p:spPr>
          <a:xfrm>
            <a:off x="1508760" y="4297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383280" y="42976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EA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Depthwise separable — 90% cheaper on mobile (Howard)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274320" y="47548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Dynamic Kernels + Attention Mechanisms (Transformers) are pushing the frontier further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3" name="Text 1"/>
          <p:cNvSpPr/>
          <p:nvPr/>
        </p:nvSpPr>
        <p:spPr>
          <a:xfrm>
            <a:off x="274320" y="0"/>
            <a:ext cx="8595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Convolution vs </a:t>
            </a:r>
            <a:r>
              <a:rPr lang="en-US" sz="19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Depthwise</a:t>
            </a: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Separable Convolution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274320" y="824447"/>
            <a:ext cx="4023360" cy="3727853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023360" cy="457200"/>
          </a:xfrm>
          <a:prstGeom prst="rect">
            <a:avLst/>
          </a:prstGeom>
          <a:solidFill>
            <a:srgbClr val="E84545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6" name="Text 4"/>
          <p:cNvSpPr/>
          <p:nvPr/>
        </p:nvSpPr>
        <p:spPr>
          <a:xfrm>
            <a:off x="365760" y="7772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Convolution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361561"/>
            <a:ext cx="3794760" cy="16120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/>
              <a:t>One operation handles spatial patterns and channel mixing simultaneously </a:t>
            </a:r>
            <a:r>
              <a:rPr lang="en-US" sz="1200" dirty="0">
                <a:solidFill>
                  <a:srgbClr val="4A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</a:t>
            </a:r>
            <a:r>
              <a:rPr lang="en-US" sz="13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K² × C</a:t>
            </a:r>
            <a:r>
              <a:rPr lang="en-US" sz="8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× C</a:t>
            </a:r>
            <a:r>
              <a:rPr lang="en-US" sz="8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</a:t>
            </a:r>
            <a:r>
              <a:rPr lang="en-US" sz="13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</a:p>
          <a:p>
            <a:r>
              <a:rPr lang="en-US" sz="1200" dirty="0"/>
              <a:t>Each of the 64 output channels requires a 3×3 filter applied across all 32 input channels simultaneously. </a:t>
            </a:r>
          </a:p>
          <a:p>
            <a:r>
              <a:rPr lang="en-US" sz="1200" dirty="0"/>
              <a:t>3 × 3 × 32 × 64 = </a:t>
            </a:r>
            <a:r>
              <a:rPr lang="en-US" sz="1400" b="1" dirty="0">
                <a:solidFill>
                  <a:srgbClr val="E8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18,432 operations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77440" y="36576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846320" y="777240"/>
            <a:ext cx="4023360" cy="37750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16" name="Shape 14"/>
          <p:cNvSpPr/>
          <p:nvPr/>
        </p:nvSpPr>
        <p:spPr>
          <a:xfrm>
            <a:off x="4846320" y="777240"/>
            <a:ext cx="4023360" cy="457200"/>
          </a:xfrm>
          <a:prstGeom prst="rect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7" name="Text 15"/>
          <p:cNvSpPr/>
          <p:nvPr/>
        </p:nvSpPr>
        <p:spPr>
          <a:xfrm>
            <a:off x="4937760" y="7772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Depthwise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Separable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83480" y="1371600"/>
            <a:ext cx="3749040" cy="2169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– Depthwise: </a:t>
            </a:r>
            <a:r>
              <a:rPr lang="en-US" sz="1200" dirty="0">
                <a:solidFill>
                  <a:srgbClr val="4A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3×3 filter per channel independently.</a:t>
            </a:r>
          </a:p>
          <a:p>
            <a:r>
              <a:rPr lang="en-US" sz="1200" dirty="0">
                <a:solidFill>
                  <a:srgbClr val="4A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1200" b="1" dirty="0">
                <a:solidFill>
                  <a:srgbClr val="00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– Pointwise: </a:t>
            </a:r>
            <a:r>
              <a:rPr lang="en-US" sz="1200" dirty="0">
                <a:solidFill>
                  <a:srgbClr val="4A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1×1 kernel mixes channels.
</a:t>
            </a: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</a:t>
            </a:r>
            <a:r>
              <a:rPr lang="en-US" sz="13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K² × C</a:t>
            </a:r>
            <a:r>
              <a:rPr lang="en-US" sz="8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+ C</a:t>
            </a:r>
            <a:r>
              <a:rPr lang="en-US" sz="8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× C</a:t>
            </a:r>
            <a:r>
              <a:rPr lang="en-US" sz="8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</a:t>
            </a:r>
            <a:r>
              <a:rPr lang="en-US" sz="13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200" dirty="0">
                <a:solidFill>
                  <a:srgbClr val="4A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example:</a:t>
            </a:r>
            <a:endParaRPr lang="en-US" sz="1200" dirty="0"/>
          </a:p>
          <a:p>
            <a:r>
              <a:rPr lang="fr-FR" sz="1200" dirty="0"/>
              <a:t>3 × 3 × 32 = </a:t>
            </a:r>
            <a:r>
              <a:rPr lang="fr-FR" sz="1200" b="1" dirty="0"/>
              <a:t>288 </a:t>
            </a:r>
            <a:r>
              <a:rPr lang="fr-FR" sz="1200" b="1" dirty="0" err="1"/>
              <a:t>operations</a:t>
            </a:r>
            <a:r>
              <a:rPr lang="fr-FR" sz="1200" b="1" dirty="0"/>
              <a:t> </a:t>
            </a:r>
          </a:p>
          <a:p>
            <a:r>
              <a:rPr lang="fr-FR" sz="1200" dirty="0"/>
              <a:t>1 × 1 × 32 × 64 = </a:t>
            </a:r>
            <a:r>
              <a:rPr lang="fr-FR" sz="1200" b="1" dirty="0"/>
              <a:t>2,048 </a:t>
            </a:r>
            <a:r>
              <a:rPr lang="fr-FR" sz="1200" b="1" dirty="0" err="1"/>
              <a:t>operations</a:t>
            </a:r>
            <a:r>
              <a:rPr lang="fr-FR" sz="1200" b="1" dirty="0"/>
              <a:t> </a:t>
            </a:r>
          </a:p>
          <a:p>
            <a:r>
              <a:rPr lang="en-US" sz="1200" dirty="0"/>
              <a:t>288 + 2,048 = </a:t>
            </a:r>
            <a:r>
              <a:rPr lang="en-US" sz="14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2,336 ops</a:t>
            </a:r>
            <a:r>
              <a:rPr lang="en-US" sz="1200" i="1" dirty="0">
                <a:solidFill>
                  <a:srgbClr val="8EA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(~8× faster)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Case Study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Kernels in Action: Self-Driving Cars, Medical AI &amp; Mobile Vision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1" y="1227937"/>
            <a:ext cx="8641079" cy="64193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5" name="Shape 3"/>
          <p:cNvSpPr/>
          <p:nvPr/>
        </p:nvSpPr>
        <p:spPr>
          <a:xfrm>
            <a:off x="274321" y="1417320"/>
            <a:ext cx="2697480" cy="347472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20B0913-8DEE-B7C5-9F84-C3E3E88E5A54}"/>
              </a:ext>
            </a:extLst>
          </p:cNvPr>
          <p:cNvGrpSpPr/>
          <p:nvPr/>
        </p:nvGrpSpPr>
        <p:grpSpPr>
          <a:xfrm>
            <a:off x="274320" y="1417320"/>
            <a:ext cx="2697480" cy="3337560"/>
            <a:chOff x="274320" y="1417320"/>
            <a:chExt cx="2697480" cy="3337560"/>
          </a:xfrm>
        </p:grpSpPr>
        <p:sp>
          <p:nvSpPr>
            <p:cNvPr id="6" name="Shape 4"/>
            <p:cNvSpPr/>
            <p:nvPr/>
          </p:nvSpPr>
          <p:spPr>
            <a:xfrm>
              <a:off x="274320" y="1417320"/>
              <a:ext cx="2697480" cy="82296"/>
            </a:xfrm>
            <a:prstGeom prst="rect">
              <a:avLst/>
            </a:prstGeom>
            <a:solidFill>
              <a:srgbClr val="E84545"/>
            </a:solidFill>
            <a:ln/>
          </p:spPr>
          <p:txBody>
            <a:bodyPr/>
            <a:lstStyle/>
            <a:p>
              <a:endParaRPr lang="en-MT"/>
            </a:p>
          </p:txBody>
        </p:sp>
        <p:pic>
          <p:nvPicPr>
            <p:cNvPr id="7" name="Image 0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8652" y="1628895"/>
              <a:ext cx="411480" cy="411480"/>
            </a:xfrm>
            <a:prstGeom prst="rect">
              <a:avLst/>
            </a:prstGeom>
          </p:spPr>
        </p:pic>
        <p:sp>
          <p:nvSpPr>
            <p:cNvPr id="8" name="Text 5"/>
            <p:cNvSpPr/>
            <p:nvPr/>
          </p:nvSpPr>
          <p:spPr>
            <a:xfrm>
              <a:off x="868680" y="1554480"/>
              <a:ext cx="210312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Tesla Autopilot</a:t>
              </a:r>
              <a:endParaRPr lang="en-US" sz="1300" dirty="0"/>
            </a:p>
          </p:txBody>
        </p:sp>
        <p:sp>
          <p:nvSpPr>
            <p:cNvPr id="9" name="Text 6"/>
            <p:cNvSpPr/>
            <p:nvPr/>
          </p:nvSpPr>
          <p:spPr>
            <a:xfrm>
              <a:off x="868680" y="1847088"/>
              <a:ext cx="2103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i="1" dirty="0">
                  <a:solidFill>
                    <a:srgbClr val="E8454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Dilated Convolutions</a:t>
              </a:r>
              <a:endParaRPr lang="en-US" sz="1000" dirty="0"/>
            </a:p>
          </p:txBody>
        </p:sp>
        <p:sp>
          <p:nvSpPr>
            <p:cNvPr id="10" name="Shape 7"/>
            <p:cNvSpPr/>
            <p:nvPr/>
          </p:nvSpPr>
          <p:spPr>
            <a:xfrm>
              <a:off x="411480" y="2148839"/>
              <a:ext cx="2450666" cy="45719"/>
            </a:xfrm>
            <a:prstGeom prst="rect">
              <a:avLst/>
            </a:prstGeom>
            <a:solidFill>
              <a:srgbClr val="E84545"/>
            </a:solidFill>
            <a:ln/>
          </p:spPr>
          <p:txBody>
            <a:bodyPr/>
            <a:lstStyle/>
            <a:p>
              <a:endParaRPr lang="en-MT"/>
            </a:p>
          </p:txBody>
        </p:sp>
        <p:sp>
          <p:nvSpPr>
            <p:cNvPr id="11" name="Text 8"/>
            <p:cNvSpPr/>
            <p:nvPr/>
          </p:nvSpPr>
          <p:spPr>
            <a:xfrm>
              <a:off x="411480" y="2240280"/>
              <a:ext cx="2383759" cy="251460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E8F4F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Dilated kernels (d=2,4,8) give the CNN a wide-angle view of the road without downsampling. The same 3×3 filter effectively sees a 15×15 area — crucial for detecting distant pedestrians while preserving lane-marking detail.</a:t>
              </a:r>
              <a:endParaRPr lang="en-US" sz="1100" dirty="0"/>
            </a:p>
          </p:txBody>
        </p:sp>
      </p:grpSp>
      <p:sp>
        <p:nvSpPr>
          <p:cNvPr id="12" name="Shape 9"/>
          <p:cNvSpPr/>
          <p:nvPr/>
        </p:nvSpPr>
        <p:spPr>
          <a:xfrm>
            <a:off x="3246120" y="1417320"/>
            <a:ext cx="2697480" cy="347472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13" name="Shape 10"/>
          <p:cNvSpPr/>
          <p:nvPr/>
        </p:nvSpPr>
        <p:spPr>
          <a:xfrm>
            <a:off x="3246120" y="1417320"/>
            <a:ext cx="2697480" cy="82296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MT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9891" y="1613915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840480" y="15544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Imaging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840480" y="1847088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Sobel + U-Net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383280" y="2148839"/>
            <a:ext cx="2422788" cy="45719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8" name="Text 14"/>
          <p:cNvSpPr/>
          <p:nvPr/>
        </p:nvSpPr>
        <p:spPr>
          <a:xfrm>
            <a:off x="3383280" y="2240280"/>
            <a:ext cx="2288974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Radiologists use Sobel-seeded CNNs to segment tumour boundaries in MRI scans. The Laplacian kernel highlights micro-textures invisible to the human eye, enabling earlier cancer detection at sub-millimetre precision.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217920" y="1417320"/>
            <a:ext cx="2697480" cy="347472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20" name="Shape 16"/>
          <p:cNvSpPr/>
          <p:nvPr/>
        </p:nvSpPr>
        <p:spPr>
          <a:xfrm>
            <a:off x="6217920" y="1417320"/>
            <a:ext cx="2697480" cy="82296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MT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818" y="1600199"/>
            <a:ext cx="411480" cy="41148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812280" y="155448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Photos (MobileNet)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6812280" y="1847088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Depthwise Separable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6355079" y="2148839"/>
            <a:ext cx="2423161" cy="45719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25" name="Text 20"/>
          <p:cNvSpPr/>
          <p:nvPr/>
        </p:nvSpPr>
        <p:spPr>
          <a:xfrm>
            <a:off x="6355080" y="2240280"/>
            <a:ext cx="237744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100" dirty="0" err="1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MobileNets</a:t>
            </a: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 a smaller version of a standard CNN, but by using </a:t>
            </a:r>
            <a:r>
              <a:rPr lang="en-US" sz="1100" dirty="0" err="1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depthwise</a:t>
            </a: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separable convolution — separating spatial filtering from channel mixing. The result: 8× fewer calculations and real-time classification of 1B+ photos daily without draining battery.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8B000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4" name="Text 1"/>
          <p:cNvSpPr/>
          <p:nvPr/>
        </p:nvSpPr>
        <p:spPr>
          <a:xfrm>
            <a:off x="107052" y="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Cases &amp; Limitations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274320" y="777240"/>
            <a:ext cx="283464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6" name="Shape 3"/>
          <p:cNvSpPr/>
          <p:nvPr/>
        </p:nvSpPr>
        <p:spPr>
          <a:xfrm>
            <a:off x="274320" y="777240"/>
            <a:ext cx="109728" cy="192024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7" name="Text 4"/>
          <p:cNvSpPr/>
          <p:nvPr/>
        </p:nvSpPr>
        <p:spPr>
          <a:xfrm>
            <a:off x="475488" y="85039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Receptive Field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75488" y="1252728"/>
            <a:ext cx="256032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kernels have a fixed-size view. They can miss relationships between distant pixels unless dilation or many layers are used.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46120" y="777240"/>
            <a:ext cx="283464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10" name="Shape 7"/>
          <p:cNvSpPr/>
          <p:nvPr/>
        </p:nvSpPr>
        <p:spPr>
          <a:xfrm>
            <a:off x="3246120" y="777240"/>
            <a:ext cx="109728" cy="192024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1" name="Text 8"/>
          <p:cNvSpPr/>
          <p:nvPr/>
        </p:nvSpPr>
        <p:spPr>
          <a:xfrm>
            <a:off x="3447288" y="85039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Spatial Invariance Beyond Translation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447288" y="1252728"/>
            <a:ext cx="256032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Convolutions are translation-equivariant, NOT rotation or scale invariant. A '7' tilted 45° can fool the network unless augmented during training.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17920" y="777240"/>
            <a:ext cx="283464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14" name="Shape 11"/>
          <p:cNvSpPr/>
          <p:nvPr/>
        </p:nvSpPr>
        <p:spPr>
          <a:xfrm>
            <a:off x="6217920" y="777240"/>
            <a:ext cx="109728" cy="1920240"/>
          </a:xfrm>
          <a:prstGeom prst="rect">
            <a:avLst/>
          </a:prstGeom>
          <a:solidFill>
            <a:srgbClr val="8E44AD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5" name="Text 12"/>
          <p:cNvSpPr/>
          <p:nvPr/>
        </p:nvSpPr>
        <p:spPr>
          <a:xfrm>
            <a:off x="6419088" y="85039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Artifacts (Zero Padding)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19088" y="1252728"/>
            <a:ext cx="256032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050" dirty="0">
                <a:solidFill>
                  <a:srgbClr val="4A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Zero-padding fills the image border with black pixels. Kernels near the edge multiply some weights against these zeros, producing weaker activations than identical patterns in the </a:t>
            </a:r>
            <a:r>
              <a:rPr lang="en-US" sz="1050" dirty="0" err="1">
                <a:solidFill>
                  <a:srgbClr val="4A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r>
              <a:rPr lang="en-US" sz="1050" dirty="0">
                <a:solidFill>
                  <a:srgbClr val="4A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</p:txBody>
      </p:sp>
      <p:sp>
        <p:nvSpPr>
          <p:cNvPr id="17" name="Shape 14"/>
          <p:cNvSpPr/>
          <p:nvPr/>
        </p:nvSpPr>
        <p:spPr>
          <a:xfrm>
            <a:off x="274320" y="2880360"/>
            <a:ext cx="283464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18" name="Shape 15"/>
          <p:cNvSpPr/>
          <p:nvPr/>
        </p:nvSpPr>
        <p:spPr>
          <a:xfrm>
            <a:off x="274320" y="2880360"/>
            <a:ext cx="109728" cy="1920240"/>
          </a:xfrm>
          <a:prstGeom prst="rect">
            <a:avLst/>
          </a:prstGeom>
          <a:solidFill>
            <a:srgbClr val="2980B9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9" name="Text 16"/>
          <p:cNvSpPr/>
          <p:nvPr/>
        </p:nvSpPr>
        <p:spPr>
          <a:xfrm>
            <a:off x="475488" y="295351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Checkerboard Artifacts (Strided Upsampling)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75488" y="3355848"/>
            <a:ext cx="256032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050" dirty="0">
                <a:solidFill>
                  <a:srgbClr val="4A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Transposed convolutions with stride &gt; 1 create uneven pixel contributions, resulting in a checkerboard pattern in generated or segmented images. This occurs since some output pixels receive far more contributions than others.</a:t>
            </a:r>
          </a:p>
        </p:txBody>
      </p:sp>
      <p:sp>
        <p:nvSpPr>
          <p:cNvPr id="21" name="Shape 18"/>
          <p:cNvSpPr/>
          <p:nvPr/>
        </p:nvSpPr>
        <p:spPr>
          <a:xfrm>
            <a:off x="3246120" y="2880360"/>
            <a:ext cx="283464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22" name="Shape 19"/>
          <p:cNvSpPr/>
          <p:nvPr/>
        </p:nvSpPr>
        <p:spPr>
          <a:xfrm>
            <a:off x="3246120" y="2880360"/>
            <a:ext cx="109728" cy="1920240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23" name="Text 20"/>
          <p:cNvSpPr/>
          <p:nvPr/>
        </p:nvSpPr>
        <p:spPr>
          <a:xfrm>
            <a:off x="3447288" y="295351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 Bias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3447288" y="3355848"/>
            <a:ext cx="256032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CNNs are biased toward texture rather than shape. A dog's fur pasted on a cat's shape is often classified as a dog. 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217920" y="2880360"/>
            <a:ext cx="283464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26" name="Shape 23"/>
          <p:cNvSpPr/>
          <p:nvPr/>
        </p:nvSpPr>
        <p:spPr>
          <a:xfrm>
            <a:off x="6217920" y="2880360"/>
            <a:ext cx="109728" cy="1920240"/>
          </a:xfrm>
          <a:prstGeom prst="rect">
            <a:avLst/>
          </a:prstGeom>
          <a:solidFill>
            <a:srgbClr val="E84545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27" name="Text 24"/>
          <p:cNvSpPr/>
          <p:nvPr/>
        </p:nvSpPr>
        <p:spPr>
          <a:xfrm>
            <a:off x="6419088" y="295351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Computational Cost (Large K)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419088" y="3355848"/>
            <a:ext cx="256032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11×11 kernels (AlexNet) require 121× more operations than 1×1. Large kernels are expensive and rarely outperform stacked smaller ones.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Use Convolution Kernels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8412480" cy="36576"/>
          </a:xfrm>
          <a:prstGeom prst="rect">
            <a:avLst/>
          </a:prstGeom>
          <a:solidFill>
            <a:srgbClr val="E84545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411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996696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Non-grid structured data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289304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EA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graphs, social networks, irregular point clouds — no spatial locality to exploit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92240" y="1060704"/>
            <a:ext cx="2331720" cy="457200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1" name="Text 9"/>
          <p:cNvSpPr/>
          <p:nvPr/>
        </p:nvSpPr>
        <p:spPr>
          <a:xfrm>
            <a:off x="6492240" y="1060704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Neural Networks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" y="1920240"/>
            <a:ext cx="411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960" y="1956816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Long-range global dependencies dominate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2249424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EA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context far away matters more than local patterns (e.g., document classification)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92240" y="1993392"/>
            <a:ext cx="2331720" cy="457200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9" name="Text 17"/>
          <p:cNvSpPr/>
          <p:nvPr/>
        </p:nvSpPr>
        <p:spPr>
          <a:xfrm>
            <a:off x="6492240" y="199339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74320" y="2880360"/>
            <a:ext cx="411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22960" y="2916936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 datasets (&lt; few hundred samples)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3209544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EA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Kernels overfit badly without sufficient data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92240" y="2953512"/>
            <a:ext cx="2331720" cy="457200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27" name="Text 25"/>
          <p:cNvSpPr/>
          <p:nvPr/>
        </p:nvSpPr>
        <p:spPr>
          <a:xfrm>
            <a:off x="6492240" y="295351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74320" y="3840480"/>
            <a:ext cx="411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2960" y="3877056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/ time-series with irregular sampling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22960" y="4169664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EA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Kernels assume uniform spacing; irregular timestamps break the assumption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92240" y="3913632"/>
            <a:ext cx="2331720" cy="457200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35" name="Text 33"/>
          <p:cNvSpPr/>
          <p:nvPr/>
        </p:nvSpPr>
        <p:spPr>
          <a:xfrm>
            <a:off x="6492240" y="391363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Neural Network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Papers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58952"/>
            <a:ext cx="8412480" cy="36576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8595360" cy="84124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594360" cy="841248"/>
          </a:xfrm>
          <a:prstGeom prst="rect">
            <a:avLst/>
          </a:prstGeom>
          <a:solidFill>
            <a:srgbClr val="3E8EDE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6" name="Text 4"/>
          <p:cNvSpPr/>
          <p:nvPr/>
        </p:nvSpPr>
        <p:spPr>
          <a:xfrm>
            <a:off x="274320" y="960120"/>
            <a:ext cx="5943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03327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E8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LeCun et al. (1998)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60120" y="1289304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Gradient-Based Learning Applied to Document Recognition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15361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EA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LeNet-5: first end-to-end trained CNN. Blueprint of all commercial OCR.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1938528"/>
            <a:ext cx="8595360" cy="84124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11" name="Shape 9"/>
          <p:cNvSpPr/>
          <p:nvPr/>
        </p:nvSpPr>
        <p:spPr>
          <a:xfrm>
            <a:off x="274320" y="1938528"/>
            <a:ext cx="594360" cy="841248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2" name="Text 10"/>
          <p:cNvSpPr/>
          <p:nvPr/>
        </p:nvSpPr>
        <p:spPr>
          <a:xfrm>
            <a:off x="274320" y="1938528"/>
            <a:ext cx="5943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[5]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20116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Krizhevsky et al. (2012)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60120" y="2267712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ImageNet Classification with Deep CNNs (AlexNet)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" y="251460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EA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Kickstarted the deep learning era; introduced ReLU, dropout, GPU training.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2916936"/>
            <a:ext cx="8595360" cy="84124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17" name="Shape 15"/>
          <p:cNvSpPr/>
          <p:nvPr/>
        </p:nvSpPr>
        <p:spPr>
          <a:xfrm>
            <a:off x="274320" y="2916936"/>
            <a:ext cx="594360" cy="841248"/>
          </a:xfrm>
          <a:prstGeom prst="rect">
            <a:avLst/>
          </a:prstGeom>
          <a:solidFill>
            <a:srgbClr val="9B59B6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8" name="Text 16"/>
          <p:cNvSpPr/>
          <p:nvPr/>
        </p:nvSpPr>
        <p:spPr>
          <a:xfrm>
            <a:off x="274320" y="2916936"/>
            <a:ext cx="5943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[6]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60120" y="299008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 &amp; Koltun (2016)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60120" y="324612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Multi-Scale Context Aggregation by Dilated Convolutions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60120" y="349300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EA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Dilated kernels for dense prediction — foundational for segmentation and autonomous driving.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3895344"/>
            <a:ext cx="8595360" cy="84124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23" name="Shape 21"/>
          <p:cNvSpPr/>
          <p:nvPr/>
        </p:nvSpPr>
        <p:spPr>
          <a:xfrm>
            <a:off x="274320" y="3895344"/>
            <a:ext cx="594360" cy="841248"/>
          </a:xfrm>
          <a:prstGeom prst="rect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24" name="Text 22"/>
          <p:cNvSpPr/>
          <p:nvPr/>
        </p:nvSpPr>
        <p:spPr>
          <a:xfrm>
            <a:off x="274320" y="3895344"/>
            <a:ext cx="5943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[7]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60120" y="3968496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Howard et al. (2017)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60120" y="422452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MobileNets: Efficient CNNs for Mobile Vision Applications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60120" y="447141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EA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Depthwise separable convolutions — enabled real-time AI on phones.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657600" cy="36576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7" name="Text 5"/>
          <p:cNvSpPr/>
          <p:nvPr/>
        </p:nvSpPr>
        <p:spPr>
          <a:xfrm>
            <a:off x="447164" y="1517609"/>
            <a:ext cx="5577840" cy="457200"/>
          </a:xfrm>
          <a:prstGeom prst="rect">
            <a:avLst/>
          </a:prstGeom>
          <a:solidFill>
            <a:schemeClr val="tx2">
              <a:lumMod val="75000"/>
            </a:schemeClr>
          </a:solidFill>
          <a:ln/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Kernels are like flashlights scanning for patterns using weight sharing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47164" y="2139401"/>
            <a:ext cx="5577840" cy="457200"/>
          </a:xfrm>
          <a:prstGeom prst="rect">
            <a:avLst/>
          </a:prstGeom>
          <a:solidFill>
            <a:schemeClr val="tx2">
              <a:lumMod val="75000"/>
            </a:schemeClr>
          </a:solidFill>
          <a:ln/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= ⌊(I–K+2P)/S⌋+1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47164" y="2752867"/>
            <a:ext cx="5577840" cy="457200"/>
          </a:xfrm>
          <a:prstGeom prst="rect">
            <a:avLst/>
          </a:prstGeom>
          <a:solidFill>
            <a:schemeClr val="tx2">
              <a:lumMod val="75000"/>
            </a:schemeClr>
          </a:solidFill>
          <a:ln/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Sobel/Gaussian/Laplacian are the base of all learned filters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47164" y="3382985"/>
            <a:ext cx="5577840" cy="457200"/>
          </a:xfrm>
          <a:prstGeom prst="rect">
            <a:avLst/>
          </a:prstGeom>
          <a:solidFill>
            <a:schemeClr val="tx2">
              <a:lumMod val="75000"/>
            </a:schemeClr>
          </a:solidFill>
          <a:ln/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Depthwise separable convolution leads to around 8× fewer operations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47164" y="4004777"/>
            <a:ext cx="5577840" cy="457200"/>
          </a:xfrm>
          <a:prstGeom prst="rect">
            <a:avLst/>
          </a:prstGeom>
          <a:solidFill>
            <a:schemeClr val="tx2">
              <a:lumMod val="75000"/>
            </a:schemeClr>
          </a:solidFill>
          <a:ln/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on rotation, scale, non-grid data, long-range context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949440" y="1291590"/>
            <a:ext cx="20116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i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kernel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i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i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flashlight of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i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mind"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5874</TotalTime>
  <Words>1546</Words>
  <Application>Microsoft Office PowerPoint</Application>
  <PresentationFormat>On-screen Show (16:9)</PresentationFormat>
  <Paragraphs>262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Convolution Kernels — Computer Vision Learning Pack</dc:title>
  <dc:subject>PptxGenJS Presentation</dc:subject>
  <dc:creator>PptxGenJS</dc:creator>
  <cp:lastModifiedBy>Gregory Vella</cp:lastModifiedBy>
  <cp:revision>80</cp:revision>
  <dcterms:created xsi:type="dcterms:W3CDTF">2026-05-05T10:54:45Z</dcterms:created>
  <dcterms:modified xsi:type="dcterms:W3CDTF">2026-05-16T09:12:31Z</dcterms:modified>
</cp:coreProperties>
</file>